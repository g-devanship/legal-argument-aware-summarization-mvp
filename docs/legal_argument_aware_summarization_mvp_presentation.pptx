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0"/>
  </p:sld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</p:sldIdLst>
  <p:sldSz cx="12192000" cy="6858000"/>
  <p:notesSz cx="6858000" cy="9144000"/>
  <p:defaultTextStyle>
    <a:defPPr/>
    <a:lvl1pPr marL="0" algn="l">
      <a:defRPr sz="1800"/>
    </a:lvl1pPr>
    <a:lvl2pPr marL="457200" algn="l">
      <a:defRPr sz="1600"/>
    </a:lvl2pPr>
    <a:lvl3pPr marL="914400" algn="l">
      <a:defRPr sz="1400"/>
    </a:lvl3pPr>
  </p:defaultTextStyle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" Target="slides/slide8.xml"/><Relationship Id="rId9" Type="http://schemas.openxmlformats.org/officeDocument/2006/relationships/slide" Target="slides/slide9.xml"/><Relationship Id="rId10" Type="http://schemas.openxmlformats.org/officeDocument/2006/relationships/slideMaster" Target="slideMasters/slideMaster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Codex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defRPr sz="3200" b="1"/>
      </a:lvl1pPr>
    </p:titleStyle>
    <p:bodyStyle>
      <a:lvl1pPr marL="0" algn="l">
        <a:defRPr sz="2000"/>
      </a:lvl1pPr>
      <a:lvl2pPr marL="457200" algn="l">
        <a:defRPr sz="1800"/>
      </a:lvl2pPr>
      <a:lvl3pPr marL="914400" algn="l">
        <a:defRPr sz="1600"/>
      </a:lvl3pPr>
    </p:bodyStyle>
    <p:otherStyle>
      <a:lvl1pPr algn="l">
        <a:defRPr sz="1800"/>
      </a:lvl1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Accent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3F5F8A"/>
          </a:solidFill>
          <a:ln>
            <a:noFill/>
          </a:ln>
        </p:spPr>
      </p:sp>
      <p:sp>
        <p:nvSpPr>
          <p:cNvPr id="3" name="Overview Card 1"/>
          <p:cNvSpPr/>
          <p:nvPr/>
        </p:nvSpPr>
        <p:spPr>
          <a:xfrm>
            <a:off x="868680" y="3154680"/>
            <a:ext cx="2651760" cy="15544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9D2DC"/>
            </a:solidFill>
          </a:ln>
        </p:spPr>
      </p:sp>
      <p:sp>
        <p:nvSpPr>
          <p:cNvPr id="4" name="Overview Accent 1"/>
          <p:cNvSpPr/>
          <p:nvPr/>
        </p:nvSpPr>
        <p:spPr>
          <a:xfrm>
            <a:off x="868680" y="3154680"/>
            <a:ext cx="2651760" cy="73152"/>
          </a:xfrm>
          <a:prstGeom prst="rect">
            <a:avLst/>
          </a:prstGeom>
          <a:solidFill>
            <a:srgbClr val="7B8696"/>
          </a:solidFill>
          <a:ln>
            <a:noFill/>
          </a:ln>
        </p:spPr>
      </p:sp>
      <p:sp>
        <p:nvSpPr>
          <p:cNvPr id="5" name="Overview Card 2"/>
          <p:cNvSpPr/>
          <p:nvPr/>
        </p:nvSpPr>
        <p:spPr>
          <a:xfrm>
            <a:off x="3840480" y="3154680"/>
            <a:ext cx="2651760" cy="15544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9D2DC"/>
            </a:solidFill>
          </a:ln>
        </p:spPr>
      </p:sp>
      <p:sp>
        <p:nvSpPr>
          <p:cNvPr id="6" name="Overview Accent 2"/>
          <p:cNvSpPr/>
          <p:nvPr/>
        </p:nvSpPr>
        <p:spPr>
          <a:xfrm>
            <a:off x="3840480" y="3154680"/>
            <a:ext cx="2651760" cy="73152"/>
          </a:xfrm>
          <a:prstGeom prst="rect">
            <a:avLst/>
          </a:prstGeom>
          <a:solidFill>
            <a:srgbClr val="3F5F8A"/>
          </a:solidFill>
          <a:ln>
            <a:noFill/>
          </a:ln>
        </p:spPr>
      </p:sp>
      <p:sp>
        <p:nvSpPr>
          <p:cNvPr id="7" name="Overview Card 3"/>
          <p:cNvSpPr/>
          <p:nvPr/>
        </p:nvSpPr>
        <p:spPr>
          <a:xfrm>
            <a:off x="6812280" y="3154680"/>
            <a:ext cx="2651760" cy="15544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9D2DC"/>
            </a:solidFill>
          </a:ln>
        </p:spPr>
      </p:sp>
      <p:sp>
        <p:nvSpPr>
          <p:cNvPr id="8" name="Overview Accent 3"/>
          <p:cNvSpPr/>
          <p:nvPr/>
        </p:nvSpPr>
        <p:spPr>
          <a:xfrm>
            <a:off x="6812280" y="3154680"/>
            <a:ext cx="2651760" cy="73152"/>
          </a:xfrm>
          <a:prstGeom prst="rect">
            <a:avLst/>
          </a:prstGeom>
          <a:solidFill>
            <a:srgbClr val="7B8696"/>
          </a:solidFill>
          <a:ln>
            <a:noFill/>
          </a:ln>
        </p:spPr>
      </p:sp>
      <p:sp>
        <p:nvSpPr>
          <p:cNvPr id="9" name="Section Label"/>
          <p:cNvSpPr txBox="1"/>
          <p:nvPr/>
        </p:nvSpPr>
        <p:spPr>
          <a:xfrm>
            <a:off x="841248" y="566928"/>
            <a:ext cx="1371600" cy="164592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en-US" sz="1000" b="1" dirty="0" smtClean="0">
                <a:solidFill>
                  <a:srgbClr val="5E6B7A"/>
                </a:solidFill>
                <a:latin typeface="Calibri"/>
              </a:rPr>
              <a:t>OVERVIEW</a:t>
            </a:r>
            <a:endParaRPr lang="en-US" sz="1000" dirty="0"/>
          </a:p>
        </p:txBody>
      </p:sp>
      <p:sp>
        <p:nvSpPr>
          <p:cNvPr id="10" name="Slide Title"/>
          <p:cNvSpPr txBox="1"/>
          <p:nvPr/>
        </p:nvSpPr>
        <p:spPr>
          <a:xfrm>
            <a:off x="777240" y="841248"/>
            <a:ext cx="10332720" cy="64008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en-US" sz="2600" b="1" dirty="0" smtClean="0">
                <a:solidFill>
                  <a:srgbClr val="1E2A36"/>
                </a:solidFill>
                <a:latin typeface="Cambria"/>
              </a:rPr>
              <a:t>Legal Argument-Aware Summarization MVP</a:t>
            </a:r>
            <a:endParaRPr lang="en-US" sz="2600" dirty="0"/>
          </a:p>
        </p:txBody>
      </p:sp>
      <p:sp>
        <p:nvSpPr>
          <p:cNvPr id="11" name="Overview Summary"/>
          <p:cNvSpPr txBox="1"/>
          <p:nvPr/>
        </p:nvSpPr>
        <p:spPr>
          <a:xfrm>
            <a:off x="868680" y="1600200"/>
            <a:ext cx="9966960" cy="9144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en-US" sz="2400" dirty="0" smtClean="0">
                <a:solidFill>
                  <a:srgbClr val="2B3A4A"/>
                </a:solidFill>
                <a:latin typeface="Calibri"/>
              </a:rPr>
              <a:t>This project summarizes long court judgments by first understanding their rhetorical structure, then generating multiple abstractive summaries, and finally selecting the best one through argument-aware reranking.</a:t>
            </a:r>
            <a:endParaRPr lang="en-US" sz="2400" dirty="0"/>
          </a:p>
        </p:txBody>
      </p:sp>
      <p:sp>
        <p:nvSpPr>
          <p:cNvPr id="12" name="Overview Head 1"/>
          <p:cNvSpPr txBox="1"/>
          <p:nvPr/>
        </p:nvSpPr>
        <p:spPr>
          <a:xfrm>
            <a:off x="1033271" y="3337560"/>
            <a:ext cx="2011680" cy="256032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en-US" sz="1800" b="1" dirty="0" smtClean="0">
                <a:solidFill>
                  <a:srgbClr val="2B3A4A"/>
                </a:solidFill>
                <a:latin typeface="Calibri"/>
              </a:rPr>
              <a:t>Input</a:t>
            </a:r>
            <a:endParaRPr lang="en-US" sz="1800" dirty="0"/>
          </a:p>
        </p:txBody>
      </p:sp>
      <p:sp>
        <p:nvSpPr>
          <p:cNvPr id="13" name="Overview Body 1"/>
          <p:cNvSpPr txBox="1"/>
          <p:nvPr/>
        </p:nvSpPr>
        <p:spPr>
          <a:xfrm>
            <a:off x="1033271" y="3767328"/>
            <a:ext cx="2240280" cy="41148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en-US" sz="1500" dirty="0" smtClean="0">
                <a:solidFill>
                  <a:srgbClr val="5E6B7A"/>
                </a:solidFill>
                <a:latin typeface="Calibri"/>
              </a:rPr>
              <a:t>TXT / PDF legal documents</a:t>
            </a:r>
            <a:endParaRPr lang="en-US" sz="1500" dirty="0"/>
          </a:p>
        </p:txBody>
      </p:sp>
      <p:sp>
        <p:nvSpPr>
          <p:cNvPr id="14" name="Overview Head 2"/>
          <p:cNvSpPr txBox="1"/>
          <p:nvPr/>
        </p:nvSpPr>
        <p:spPr>
          <a:xfrm>
            <a:off x="4005072" y="3337560"/>
            <a:ext cx="2011680" cy="256032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en-US" sz="1800" b="1" dirty="0" smtClean="0">
                <a:solidFill>
                  <a:srgbClr val="2B3A4A"/>
                </a:solidFill>
                <a:latin typeface="Calibri"/>
              </a:rPr>
              <a:t>Method</a:t>
            </a:r>
            <a:endParaRPr lang="en-US" sz="1800" dirty="0"/>
          </a:p>
        </p:txBody>
      </p:sp>
      <p:sp>
        <p:nvSpPr>
          <p:cNvPr id="15" name="Overview Body 2"/>
          <p:cNvSpPr txBox="1"/>
          <p:nvPr/>
        </p:nvSpPr>
        <p:spPr>
          <a:xfrm>
            <a:off x="4005072" y="3767328"/>
            <a:ext cx="2240280" cy="41148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en-US" sz="1500" dirty="0" smtClean="0">
                <a:solidFill>
                  <a:srgbClr val="5E6B7A"/>
                </a:solidFill>
                <a:latin typeface="Calibri"/>
              </a:rPr>
              <a:t>segment -&gt; label -&gt; generate -&gt; rerank</a:t>
            </a:r>
            <a:endParaRPr lang="en-US" sz="1500" dirty="0"/>
          </a:p>
        </p:txBody>
      </p:sp>
      <p:sp>
        <p:nvSpPr>
          <p:cNvPr id="16" name="Overview Head 3"/>
          <p:cNvSpPr txBox="1"/>
          <p:nvPr/>
        </p:nvSpPr>
        <p:spPr>
          <a:xfrm>
            <a:off x="6976872" y="3337560"/>
            <a:ext cx="2011680" cy="256032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en-US" sz="1800" b="1" dirty="0" smtClean="0">
                <a:solidFill>
                  <a:srgbClr val="2B3A4A"/>
                </a:solidFill>
                <a:latin typeface="Calibri"/>
              </a:rPr>
              <a:t>Output</a:t>
            </a:r>
            <a:endParaRPr lang="en-US" sz="1800" dirty="0"/>
          </a:p>
        </p:txBody>
      </p:sp>
      <p:sp>
        <p:nvSpPr>
          <p:cNvPr id="17" name="Overview Body 3"/>
          <p:cNvSpPr txBox="1"/>
          <p:nvPr/>
        </p:nvSpPr>
        <p:spPr>
          <a:xfrm>
            <a:off x="6976872" y="3767328"/>
            <a:ext cx="2240280" cy="41148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en-US" sz="1500" dirty="0" smtClean="0">
                <a:solidFill>
                  <a:srgbClr val="5E6B7A"/>
                </a:solidFill>
                <a:latin typeface="Calibri"/>
              </a:rPr>
              <a:t>best summary + metrics + reasoning</a:t>
            </a:r>
            <a:endParaRPr lang="en-US" sz="1500" dirty="0"/>
          </a:p>
        </p:txBody>
      </p:sp>
      <p:sp>
        <p:nvSpPr>
          <p:cNvPr id="18" name="Overview Footnote"/>
          <p:cNvSpPr txBox="1"/>
          <p:nvPr/>
        </p:nvSpPr>
        <p:spPr>
          <a:xfrm>
            <a:off x="914400" y="5166360"/>
            <a:ext cx="9692640" cy="50292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c"/>
            <a:r>
              <a:rPr lang="en-US" sz="1600" dirty="0" smtClean="0">
                <a:solidFill>
                  <a:srgbClr val="7B8696"/>
                </a:solidFill>
                <a:latin typeface="Calibri"/>
              </a:rPr>
              <a:t>Open-source only | CPU fallback supported | Paper-inspired, production-style MVP</a:t>
            </a:r>
            <a:endParaRPr lang="en-US" sz="1600" dirty="0"/>
          </a:p>
        </p:txBody>
      </p:sp>
      <p:sp>
        <p:nvSpPr>
          <p:cNvPr id="19" name="Footer Left 1"/>
          <p:cNvSpPr txBox="1"/>
          <p:nvPr/>
        </p:nvSpPr>
        <p:spPr>
          <a:xfrm>
            <a:off x="685800" y="6400800"/>
            <a:ext cx="2926080" cy="2286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en-US" sz="1000" dirty="0" smtClean="0">
                <a:solidFill>
                  <a:srgbClr val="5E6B7A"/>
                </a:solidFill>
                <a:latin typeface="Calibri"/>
              </a:rPr>
              <a:t>Legal Argument-Aware Summarization MVP</a:t>
            </a:r>
            <a:endParaRPr lang="en-US" sz="1000" dirty="0"/>
          </a:p>
        </p:txBody>
      </p:sp>
      <p:sp>
        <p:nvSpPr>
          <p:cNvPr id="20" name="Footer Right 1"/>
          <p:cNvSpPr txBox="1"/>
          <p:nvPr/>
        </p:nvSpPr>
        <p:spPr>
          <a:xfrm>
            <a:off x="10561320" y="635508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r"/>
            <a:r>
              <a:rPr lang="en-US" sz="1200" b="1" dirty="0" smtClean="0">
                <a:solidFill>
                  <a:srgbClr val="7B8696"/>
                </a:solidFill>
                <a:latin typeface="Calibri"/>
              </a:rPr>
              <a:t>01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Accent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3F5F8A"/>
          </a:solidFill>
          <a:ln>
            <a:noFill/>
          </a:ln>
        </p:spPr>
      </p:sp>
      <p:sp>
        <p:nvSpPr>
          <p:cNvPr id="3" name="Problem Left"/>
          <p:cNvSpPr/>
          <p:nvPr/>
        </p:nvSpPr>
        <p:spPr>
          <a:xfrm>
            <a:off x="822960" y="1783080"/>
            <a:ext cx="4983480" cy="4251960"/>
          </a:xfrm>
          <a:prstGeom prst="rect">
            <a:avLst/>
          </a:prstGeom>
          <a:solidFill>
            <a:srgbClr val="FFFFFF"/>
          </a:solidFill>
          <a:ln w="9525">
            <a:solidFill>
              <a:srgbClr val="C9D2DC"/>
            </a:solidFill>
          </a:ln>
        </p:spPr>
      </p:sp>
      <p:sp>
        <p:nvSpPr>
          <p:cNvPr id="4" name="Problem Left Accent"/>
          <p:cNvSpPr/>
          <p:nvPr/>
        </p:nvSpPr>
        <p:spPr>
          <a:xfrm>
            <a:off x="822960" y="1783080"/>
            <a:ext cx="4983480" cy="73152"/>
          </a:xfrm>
          <a:prstGeom prst="rect">
            <a:avLst/>
          </a:prstGeom>
          <a:solidFill>
            <a:srgbClr val="7B8696"/>
          </a:solidFill>
          <a:ln>
            <a:noFill/>
          </a:ln>
        </p:spPr>
      </p:sp>
      <p:sp>
        <p:nvSpPr>
          <p:cNvPr id="5" name="Problem Right"/>
          <p:cNvSpPr/>
          <p:nvPr/>
        </p:nvSpPr>
        <p:spPr>
          <a:xfrm>
            <a:off x="6080760" y="1783080"/>
            <a:ext cx="5074920" cy="4251960"/>
          </a:xfrm>
          <a:prstGeom prst="rect">
            <a:avLst/>
          </a:prstGeom>
          <a:solidFill>
            <a:srgbClr val="FFFFFF"/>
          </a:solidFill>
          <a:ln w="9525">
            <a:solidFill>
              <a:srgbClr val="C9D2DC"/>
            </a:solidFill>
          </a:ln>
        </p:spPr>
      </p:sp>
      <p:sp>
        <p:nvSpPr>
          <p:cNvPr id="6" name="Problem Right Accent"/>
          <p:cNvSpPr/>
          <p:nvPr/>
        </p:nvSpPr>
        <p:spPr>
          <a:xfrm>
            <a:off x="6080760" y="1783080"/>
            <a:ext cx="5074920" cy="73152"/>
          </a:xfrm>
          <a:prstGeom prst="rect">
            <a:avLst/>
          </a:prstGeom>
          <a:solidFill>
            <a:srgbClr val="3F5F8A"/>
          </a:solidFill>
          <a:ln>
            <a:noFill/>
          </a:ln>
        </p:spPr>
      </p:sp>
      <p:sp>
        <p:nvSpPr>
          <p:cNvPr id="7" name="Section Label"/>
          <p:cNvSpPr txBox="1"/>
          <p:nvPr/>
        </p:nvSpPr>
        <p:spPr>
          <a:xfrm>
            <a:off x="841248" y="566928"/>
            <a:ext cx="1371600" cy="164592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en-US" sz="1000" b="1" dirty="0" smtClean="0">
                <a:solidFill>
                  <a:srgbClr val="5E6B7A"/>
                </a:solidFill>
                <a:latin typeface="Calibri"/>
              </a:rPr>
              <a:t>PROBLEM</a:t>
            </a:r>
            <a:endParaRPr lang="en-US" sz="1000" dirty="0"/>
          </a:p>
        </p:txBody>
      </p:sp>
      <p:sp>
        <p:nvSpPr>
          <p:cNvPr id="8" name="Slide Title"/>
          <p:cNvSpPr txBox="1"/>
          <p:nvPr/>
        </p:nvSpPr>
        <p:spPr>
          <a:xfrm>
            <a:off x="777240" y="841248"/>
            <a:ext cx="10332720" cy="64008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en-US" sz="2600" b="1" dirty="0" smtClean="0">
                <a:solidFill>
                  <a:srgbClr val="1E2A36"/>
                </a:solidFill>
                <a:latin typeface="Cambria"/>
              </a:rPr>
              <a:t>Problem Statement</a:t>
            </a:r>
            <a:endParaRPr lang="en-US" sz="2600" dirty="0"/>
          </a:p>
        </p:txBody>
      </p:sp>
      <p:sp>
        <p:nvSpPr>
          <p:cNvPr id="9" name="Problem Left Title"/>
          <p:cNvSpPr txBox="1"/>
          <p:nvPr/>
        </p:nvSpPr>
        <p:spPr>
          <a:xfrm>
            <a:off x="1005840" y="1947672"/>
            <a:ext cx="4617720" cy="32004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en-US" sz="1800" b="1" dirty="0" smtClean="0">
                <a:solidFill>
                  <a:srgbClr val="2B3A4A"/>
                </a:solidFill>
                <a:latin typeface="Calibri"/>
              </a:rPr>
              <a:t>Challenges in long legal opinions</a:t>
            </a:r>
            <a:endParaRPr lang="en-US" sz="1800" dirty="0"/>
          </a:p>
        </p:txBody>
      </p:sp>
      <p:sp>
        <p:nvSpPr>
          <p:cNvPr id="10" name="Problem Left Body"/>
          <p:cNvSpPr txBox="1"/>
          <p:nvPr/>
        </p:nvSpPr>
        <p:spPr>
          <a:xfrm>
            <a:off x="1005840" y="2331720"/>
            <a:ext cx="4663440" cy="356616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en-US" sz="1600" dirty="0" smtClean="0">
                <a:solidFill>
                  <a:srgbClr val="1E2A36"/>
                </a:solidFill>
                <a:latin typeface="Calibri"/>
              </a:rPr>
              <a:t>- opinions are long and exceed normal context limits</a:t>
            </a:r>
            <a:endParaRPr lang="en-US" sz="1600" dirty="0"/>
          </a:p>
          <a:p>
            <a:pPr algn="l"/>
            <a:r>
              <a:rPr lang="en-US" sz="1600" dirty="0" smtClean="0">
                <a:solidFill>
                  <a:srgbClr val="1E2A36"/>
                </a:solidFill>
                <a:latin typeface="Calibri"/>
              </a:rPr>
              <a:t>- important content is distributed across facts, issue, analysis, and ruling</a:t>
            </a:r>
            <a:endParaRPr lang="en-US" sz="1600" dirty="0"/>
          </a:p>
          <a:p>
            <a:pPr algn="l"/>
            <a:r>
              <a:rPr lang="en-US" sz="1600" dirty="0" smtClean="0">
                <a:solidFill>
                  <a:srgbClr val="1E2A36"/>
                </a:solidFill>
                <a:latin typeface="Calibri"/>
              </a:rPr>
              <a:t>- legal summaries must preserve what the court decided and why</a:t>
            </a:r>
            <a:endParaRPr lang="en-US" sz="1600" dirty="0"/>
          </a:p>
          <a:p>
            <a:pPr algn="l"/>
            <a:r>
              <a:rPr lang="en-US" sz="1600" dirty="0" smtClean="0">
                <a:solidFill>
                  <a:srgbClr val="1E2A36"/>
                </a:solidFill>
                <a:latin typeface="Calibri"/>
              </a:rPr>
              <a:t>- citations, sections, and procedural details should not be dropped carelessly</a:t>
            </a:r>
            <a:endParaRPr lang="en-US" sz="1600" dirty="0"/>
          </a:p>
        </p:txBody>
      </p:sp>
      <p:sp>
        <p:nvSpPr>
          <p:cNvPr id="11" name="Problem Right Title"/>
          <p:cNvSpPr txBox="1"/>
          <p:nvPr/>
        </p:nvSpPr>
        <p:spPr>
          <a:xfrm>
            <a:off x="6263640" y="1947672"/>
            <a:ext cx="4709159" cy="32004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en-US" sz="1800" b="1" dirty="0" smtClean="0">
                <a:solidFill>
                  <a:srgbClr val="2B3A4A"/>
                </a:solidFill>
                <a:latin typeface="Calibri"/>
              </a:rPr>
              <a:t>Research objective</a:t>
            </a:r>
            <a:endParaRPr lang="en-US" sz="1800" dirty="0"/>
          </a:p>
        </p:txBody>
      </p:sp>
      <p:sp>
        <p:nvSpPr>
          <p:cNvPr id="12" name="Problem Right Body"/>
          <p:cNvSpPr txBox="1"/>
          <p:nvPr/>
        </p:nvSpPr>
        <p:spPr>
          <a:xfrm>
            <a:off x="6263640" y="2331720"/>
            <a:ext cx="4754880" cy="356616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en-US" sz="1600" dirty="0" smtClean="0">
                <a:solidFill>
                  <a:srgbClr val="1E2A36"/>
                </a:solidFill>
                <a:latin typeface="Calibri"/>
              </a:rPr>
              <a:t>Build a local legal summarization system that:</a:t>
            </a:r>
            <a:endParaRPr lang="en-US" sz="1600" dirty="0"/>
          </a:p>
          <a:p>
            <a:pPr algn="l"/>
            <a:r>
              <a:rPr lang="en-US" sz="1600" dirty="0" smtClean="0">
                <a:solidFill>
                  <a:srgbClr val="1E2A36"/>
                </a:solidFill>
                <a:latin typeface="Calibri"/>
              </a:rPr>
              <a:t>- understands rhetorical structure</a:t>
            </a:r>
            <a:endParaRPr lang="en-US" sz="1600" dirty="0"/>
          </a:p>
          <a:p>
            <a:pPr algn="l"/>
            <a:r>
              <a:rPr lang="en-US" sz="1600" dirty="0" smtClean="0">
                <a:solidFill>
                  <a:srgbClr val="1E2A36"/>
                </a:solidFill>
                <a:latin typeface="Calibri"/>
              </a:rPr>
              <a:t>- generates multiple abstractive candidates</a:t>
            </a:r>
            <a:endParaRPr lang="en-US" sz="1600" dirty="0"/>
          </a:p>
          <a:p>
            <a:pPr algn="l"/>
            <a:r>
              <a:rPr lang="en-US" sz="1600" dirty="0" smtClean="0">
                <a:solidFill>
                  <a:srgbClr val="1E2A36"/>
                </a:solidFill>
                <a:latin typeface="Calibri"/>
              </a:rPr>
              <a:t>- reranks candidates with argument-aware scoring</a:t>
            </a:r>
            <a:endParaRPr lang="en-US" sz="1600" dirty="0"/>
          </a:p>
          <a:p>
            <a:pPr algn="l"/>
            <a:r>
              <a:rPr lang="en-US" sz="1600" dirty="0" smtClean="0">
                <a:solidFill>
                  <a:srgbClr val="1E2A36"/>
                </a:solidFill>
                <a:latin typeface="Calibri"/>
              </a:rPr>
              <a:t>- returns the best summary with metrics and interpretable reasoning</a:t>
            </a:r>
            <a:endParaRPr lang="en-US" sz="1600" dirty="0"/>
          </a:p>
        </p:txBody>
      </p:sp>
      <p:sp>
        <p:nvSpPr>
          <p:cNvPr id="13" name="Footer Left 2"/>
          <p:cNvSpPr txBox="1"/>
          <p:nvPr/>
        </p:nvSpPr>
        <p:spPr>
          <a:xfrm>
            <a:off x="685800" y="6400800"/>
            <a:ext cx="2926080" cy="2286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en-US" sz="1000" dirty="0" smtClean="0">
                <a:solidFill>
                  <a:srgbClr val="5E6B7A"/>
                </a:solidFill>
                <a:latin typeface="Calibri"/>
              </a:rPr>
              <a:t>Legal Argument-Aware Summarization MVP</a:t>
            </a:r>
            <a:endParaRPr lang="en-US" sz="1000" dirty="0"/>
          </a:p>
        </p:txBody>
      </p:sp>
      <p:sp>
        <p:nvSpPr>
          <p:cNvPr id="14" name="Footer Right 2"/>
          <p:cNvSpPr txBox="1"/>
          <p:nvPr/>
        </p:nvSpPr>
        <p:spPr>
          <a:xfrm>
            <a:off x="10561320" y="635508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r"/>
            <a:r>
              <a:rPr lang="en-US" sz="1200" b="1" dirty="0" smtClean="0">
                <a:solidFill>
                  <a:srgbClr val="7B8696"/>
                </a:solidFill>
                <a:latin typeface="Calibri"/>
              </a:rPr>
              <a:t>02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Accent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3F5F8A"/>
          </a:solidFill>
          <a:ln>
            <a:noFill/>
          </a:ln>
        </p:spPr>
      </p:sp>
      <p:sp>
        <p:nvSpPr>
          <p:cNvPr id="3" name="Method Box 1"/>
          <p:cNvSpPr/>
          <p:nvPr/>
        </p:nvSpPr>
        <p:spPr>
          <a:xfrm>
            <a:off x="777240" y="2743200"/>
            <a:ext cx="1325880" cy="13258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9D2DC"/>
            </a:solidFill>
          </a:ln>
        </p:spPr>
      </p:sp>
      <p:sp>
        <p:nvSpPr>
          <p:cNvPr id="4" name="Method Accent 1"/>
          <p:cNvSpPr/>
          <p:nvPr/>
        </p:nvSpPr>
        <p:spPr>
          <a:xfrm>
            <a:off x="777240" y="2743200"/>
            <a:ext cx="1325880" cy="64008"/>
          </a:xfrm>
          <a:prstGeom prst="rect">
            <a:avLst/>
          </a:prstGeom>
          <a:solidFill>
            <a:srgbClr val="7B8696"/>
          </a:solidFill>
          <a:ln>
            <a:noFill/>
          </a:ln>
        </p:spPr>
      </p:sp>
      <p:sp>
        <p:nvSpPr>
          <p:cNvPr id="5" name="Method Arrow 1"/>
          <p:cNvSpPr/>
          <p:nvPr/>
        </p:nvSpPr>
        <p:spPr>
          <a:xfrm>
            <a:off x="2176272" y="3182112"/>
            <a:ext cx="347472" cy="219456"/>
          </a:xfrm>
          <a:prstGeom prst="rightArrow">
            <a:avLst/>
          </a:prstGeom>
          <a:solidFill>
            <a:srgbClr val="3F5F8A"/>
          </a:solidFill>
          <a:ln>
            <a:noFill/>
          </a:ln>
        </p:spPr>
      </p:sp>
      <p:sp>
        <p:nvSpPr>
          <p:cNvPr id="6" name="Method Box 2"/>
          <p:cNvSpPr/>
          <p:nvPr/>
        </p:nvSpPr>
        <p:spPr>
          <a:xfrm>
            <a:off x="2331720" y="2743200"/>
            <a:ext cx="1554480" cy="13258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9D2DC"/>
            </a:solidFill>
          </a:ln>
        </p:spPr>
      </p:sp>
      <p:sp>
        <p:nvSpPr>
          <p:cNvPr id="7" name="Method Accent 2"/>
          <p:cNvSpPr/>
          <p:nvPr/>
        </p:nvSpPr>
        <p:spPr>
          <a:xfrm>
            <a:off x="2331720" y="2743200"/>
            <a:ext cx="1554480" cy="64008"/>
          </a:xfrm>
          <a:prstGeom prst="rect">
            <a:avLst/>
          </a:prstGeom>
          <a:solidFill>
            <a:srgbClr val="3F5F8A"/>
          </a:solidFill>
          <a:ln>
            <a:noFill/>
          </a:ln>
        </p:spPr>
      </p:sp>
      <p:sp>
        <p:nvSpPr>
          <p:cNvPr id="8" name="Method Arrow 2"/>
          <p:cNvSpPr/>
          <p:nvPr/>
        </p:nvSpPr>
        <p:spPr>
          <a:xfrm>
            <a:off x="3959352" y="3182112"/>
            <a:ext cx="347472" cy="219456"/>
          </a:xfrm>
          <a:prstGeom prst="rightArrow">
            <a:avLst/>
          </a:prstGeom>
          <a:solidFill>
            <a:srgbClr val="3F5F8A"/>
          </a:solidFill>
          <a:ln>
            <a:noFill/>
          </a:ln>
        </p:spPr>
      </p:sp>
      <p:sp>
        <p:nvSpPr>
          <p:cNvPr id="9" name="Method Box 3"/>
          <p:cNvSpPr/>
          <p:nvPr/>
        </p:nvSpPr>
        <p:spPr>
          <a:xfrm>
            <a:off x="4160520" y="2743200"/>
            <a:ext cx="1554480" cy="13258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9D2DC"/>
            </a:solidFill>
          </a:ln>
        </p:spPr>
      </p:sp>
      <p:sp>
        <p:nvSpPr>
          <p:cNvPr id="10" name="Method Accent 3"/>
          <p:cNvSpPr/>
          <p:nvPr/>
        </p:nvSpPr>
        <p:spPr>
          <a:xfrm>
            <a:off x="4160520" y="2743200"/>
            <a:ext cx="1554480" cy="64008"/>
          </a:xfrm>
          <a:prstGeom prst="rect">
            <a:avLst/>
          </a:prstGeom>
          <a:solidFill>
            <a:srgbClr val="7B8696"/>
          </a:solidFill>
          <a:ln>
            <a:noFill/>
          </a:ln>
        </p:spPr>
      </p:sp>
      <p:sp>
        <p:nvSpPr>
          <p:cNvPr id="11" name="Method Arrow 3"/>
          <p:cNvSpPr/>
          <p:nvPr/>
        </p:nvSpPr>
        <p:spPr>
          <a:xfrm>
            <a:off x="5788152" y="3182112"/>
            <a:ext cx="347472" cy="219456"/>
          </a:xfrm>
          <a:prstGeom prst="rightArrow">
            <a:avLst/>
          </a:prstGeom>
          <a:solidFill>
            <a:srgbClr val="3F5F8A"/>
          </a:solidFill>
          <a:ln>
            <a:noFill/>
          </a:ln>
        </p:spPr>
      </p:sp>
      <p:sp>
        <p:nvSpPr>
          <p:cNvPr id="12" name="Method Box 4"/>
          <p:cNvSpPr/>
          <p:nvPr/>
        </p:nvSpPr>
        <p:spPr>
          <a:xfrm>
            <a:off x="5989320" y="2743200"/>
            <a:ext cx="1554480" cy="13258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9D2DC"/>
            </a:solidFill>
          </a:ln>
        </p:spPr>
      </p:sp>
      <p:sp>
        <p:nvSpPr>
          <p:cNvPr id="13" name="Method Accent 4"/>
          <p:cNvSpPr/>
          <p:nvPr/>
        </p:nvSpPr>
        <p:spPr>
          <a:xfrm>
            <a:off x="5989320" y="2743200"/>
            <a:ext cx="1554480" cy="64008"/>
          </a:xfrm>
          <a:prstGeom prst="rect">
            <a:avLst/>
          </a:prstGeom>
          <a:solidFill>
            <a:srgbClr val="3F5F8A"/>
          </a:solidFill>
          <a:ln>
            <a:noFill/>
          </a:ln>
        </p:spPr>
      </p:sp>
      <p:sp>
        <p:nvSpPr>
          <p:cNvPr id="14" name="Method Arrow 4"/>
          <p:cNvSpPr/>
          <p:nvPr/>
        </p:nvSpPr>
        <p:spPr>
          <a:xfrm>
            <a:off x="7616952" y="3182112"/>
            <a:ext cx="347472" cy="219456"/>
          </a:xfrm>
          <a:prstGeom prst="rightArrow">
            <a:avLst/>
          </a:prstGeom>
          <a:solidFill>
            <a:srgbClr val="3F5F8A"/>
          </a:solidFill>
          <a:ln>
            <a:noFill/>
          </a:ln>
        </p:spPr>
      </p:sp>
      <p:sp>
        <p:nvSpPr>
          <p:cNvPr id="15" name="Method Box 5"/>
          <p:cNvSpPr/>
          <p:nvPr/>
        </p:nvSpPr>
        <p:spPr>
          <a:xfrm>
            <a:off x="7818120" y="2743200"/>
            <a:ext cx="1554480" cy="13258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9D2DC"/>
            </a:solidFill>
          </a:ln>
        </p:spPr>
      </p:sp>
      <p:sp>
        <p:nvSpPr>
          <p:cNvPr id="16" name="Method Accent 5"/>
          <p:cNvSpPr/>
          <p:nvPr/>
        </p:nvSpPr>
        <p:spPr>
          <a:xfrm>
            <a:off x="7818120" y="2743200"/>
            <a:ext cx="1554480" cy="64008"/>
          </a:xfrm>
          <a:prstGeom prst="rect">
            <a:avLst/>
          </a:prstGeom>
          <a:solidFill>
            <a:srgbClr val="7B8696"/>
          </a:solidFill>
          <a:ln>
            <a:noFill/>
          </a:ln>
        </p:spPr>
      </p:sp>
      <p:sp>
        <p:nvSpPr>
          <p:cNvPr id="17" name="Method Arrow 5"/>
          <p:cNvSpPr/>
          <p:nvPr/>
        </p:nvSpPr>
        <p:spPr>
          <a:xfrm>
            <a:off x="9445752" y="3182112"/>
            <a:ext cx="347472" cy="219456"/>
          </a:xfrm>
          <a:prstGeom prst="rightArrow">
            <a:avLst/>
          </a:prstGeom>
          <a:solidFill>
            <a:srgbClr val="3F5F8A"/>
          </a:solidFill>
          <a:ln>
            <a:noFill/>
          </a:ln>
        </p:spPr>
      </p:sp>
      <p:sp>
        <p:nvSpPr>
          <p:cNvPr id="18" name="Method Box 6"/>
          <p:cNvSpPr/>
          <p:nvPr/>
        </p:nvSpPr>
        <p:spPr>
          <a:xfrm>
            <a:off x="9372600" y="2743200"/>
            <a:ext cx="1325880" cy="13258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9D2DC"/>
            </a:solidFill>
          </a:ln>
        </p:spPr>
      </p:sp>
      <p:sp>
        <p:nvSpPr>
          <p:cNvPr id="19" name="Method Accent 6"/>
          <p:cNvSpPr/>
          <p:nvPr/>
        </p:nvSpPr>
        <p:spPr>
          <a:xfrm>
            <a:off x="9372600" y="2743200"/>
            <a:ext cx="1325880" cy="64008"/>
          </a:xfrm>
          <a:prstGeom prst="rect">
            <a:avLst/>
          </a:prstGeom>
          <a:solidFill>
            <a:srgbClr val="3F5F8A"/>
          </a:solidFill>
          <a:ln>
            <a:noFill/>
          </a:ln>
        </p:spPr>
      </p:sp>
      <p:sp>
        <p:nvSpPr>
          <p:cNvPr id="20" name="Section Label"/>
          <p:cNvSpPr txBox="1"/>
          <p:nvPr/>
        </p:nvSpPr>
        <p:spPr>
          <a:xfrm>
            <a:off x="841248" y="566928"/>
            <a:ext cx="1371600" cy="164592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en-US" sz="1000" b="1" dirty="0" smtClean="0">
                <a:solidFill>
                  <a:srgbClr val="5E6B7A"/>
                </a:solidFill>
                <a:latin typeface="Calibri"/>
              </a:rPr>
              <a:t>PIPELINE</a:t>
            </a:r>
            <a:endParaRPr lang="en-US" sz="1000" dirty="0"/>
          </a:p>
        </p:txBody>
      </p:sp>
      <p:sp>
        <p:nvSpPr>
          <p:cNvPr id="21" name="Slide Title"/>
          <p:cNvSpPr txBox="1"/>
          <p:nvPr/>
        </p:nvSpPr>
        <p:spPr>
          <a:xfrm>
            <a:off x="777240" y="841248"/>
            <a:ext cx="10332720" cy="64008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en-US" sz="2600" b="1" dirty="0" smtClean="0">
                <a:solidFill>
                  <a:srgbClr val="1E2A36"/>
                </a:solidFill>
                <a:latin typeface="Cambria"/>
              </a:rPr>
              <a:t>Method Overview</a:t>
            </a:r>
            <a:endParaRPr lang="en-US" sz="2600" dirty="0"/>
          </a:p>
        </p:txBody>
      </p:sp>
      <p:sp>
        <p:nvSpPr>
          <p:cNvPr id="22" name="Method Head 1"/>
          <p:cNvSpPr txBox="1"/>
          <p:nvPr/>
        </p:nvSpPr>
        <p:spPr>
          <a:xfrm>
            <a:off x="868680" y="2907792"/>
            <a:ext cx="1143000" cy="219456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c"/>
            <a:r>
              <a:rPr lang="en-US" sz="1600" b="1" dirty="0" smtClean="0">
                <a:solidFill>
                  <a:srgbClr val="2B3A4A"/>
                </a:solidFill>
                <a:latin typeface="Calibri"/>
              </a:rPr>
              <a:t>Input</a:t>
            </a:r>
            <a:endParaRPr lang="en-US" sz="1600" dirty="0"/>
          </a:p>
        </p:txBody>
      </p:sp>
      <p:sp>
        <p:nvSpPr>
          <p:cNvPr id="23" name="Method Body 1"/>
          <p:cNvSpPr txBox="1"/>
          <p:nvPr/>
        </p:nvSpPr>
        <p:spPr>
          <a:xfrm>
            <a:off x="850392" y="3310128"/>
            <a:ext cx="1179576" cy="32004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c"/>
            <a:r>
              <a:rPr lang="en-US" sz="1200" dirty="0" smtClean="0">
                <a:solidFill>
                  <a:srgbClr val="5E6B7A"/>
                </a:solidFill>
                <a:latin typeface="Calibri"/>
              </a:rPr>
              <a:t>TXT / PDF</a:t>
            </a:r>
            <a:endParaRPr lang="en-US" sz="1200" dirty="0"/>
          </a:p>
        </p:txBody>
      </p:sp>
      <p:sp>
        <p:nvSpPr>
          <p:cNvPr id="24" name="Method Head 2"/>
          <p:cNvSpPr txBox="1"/>
          <p:nvPr/>
        </p:nvSpPr>
        <p:spPr>
          <a:xfrm>
            <a:off x="2423160" y="2907792"/>
            <a:ext cx="1371600" cy="219456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c"/>
            <a:r>
              <a:rPr lang="en-US" sz="1600" b="1" dirty="0" smtClean="0">
                <a:solidFill>
                  <a:srgbClr val="2B3A4A"/>
                </a:solidFill>
                <a:latin typeface="Calibri"/>
              </a:rPr>
              <a:t>Preprocess</a:t>
            </a:r>
            <a:endParaRPr lang="en-US" sz="1600" dirty="0"/>
          </a:p>
        </p:txBody>
      </p:sp>
      <p:sp>
        <p:nvSpPr>
          <p:cNvPr id="25" name="Method Body 2"/>
          <p:cNvSpPr txBox="1"/>
          <p:nvPr/>
        </p:nvSpPr>
        <p:spPr>
          <a:xfrm>
            <a:off x="2404872" y="3310128"/>
            <a:ext cx="1408176" cy="32004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c"/>
            <a:r>
              <a:rPr lang="en-US" sz="1200" dirty="0" smtClean="0">
                <a:solidFill>
                  <a:srgbClr val="5E6B7A"/>
                </a:solidFill>
                <a:latin typeface="Calibri"/>
              </a:rPr>
              <a:t>normalize + segment + chunk</a:t>
            </a:r>
            <a:endParaRPr lang="en-US" sz="1200" dirty="0"/>
          </a:p>
        </p:txBody>
      </p:sp>
      <p:sp>
        <p:nvSpPr>
          <p:cNvPr id="26" name="Method Head 3"/>
          <p:cNvSpPr txBox="1"/>
          <p:nvPr/>
        </p:nvSpPr>
        <p:spPr>
          <a:xfrm>
            <a:off x="4251959" y="2907792"/>
            <a:ext cx="1371600" cy="219456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c"/>
            <a:r>
              <a:rPr lang="en-US" sz="1600" b="1" dirty="0" smtClean="0">
                <a:solidFill>
                  <a:srgbClr val="2B3A4A"/>
                </a:solidFill>
                <a:latin typeface="Calibri"/>
              </a:rPr>
              <a:t>Roles</a:t>
            </a:r>
            <a:endParaRPr lang="en-US" sz="1600" dirty="0"/>
          </a:p>
        </p:txBody>
      </p:sp>
      <p:sp>
        <p:nvSpPr>
          <p:cNvPr id="27" name="Method Body 3"/>
          <p:cNvSpPr txBox="1"/>
          <p:nvPr/>
        </p:nvSpPr>
        <p:spPr>
          <a:xfrm>
            <a:off x="4233672" y="3310128"/>
            <a:ext cx="1408176" cy="32004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c"/>
            <a:r>
              <a:rPr lang="en-US" sz="1200" dirty="0" smtClean="0">
                <a:solidFill>
                  <a:srgbClr val="5E6B7A"/>
                </a:solidFill>
                <a:latin typeface="Calibri"/>
              </a:rPr>
              <a:t>predict rhetorical labels</a:t>
            </a:r>
            <a:endParaRPr lang="en-US" sz="1200" dirty="0"/>
          </a:p>
        </p:txBody>
      </p:sp>
      <p:sp>
        <p:nvSpPr>
          <p:cNvPr id="28" name="Method Head 4"/>
          <p:cNvSpPr txBox="1"/>
          <p:nvPr/>
        </p:nvSpPr>
        <p:spPr>
          <a:xfrm>
            <a:off x="6080759" y="2907792"/>
            <a:ext cx="1371600" cy="219456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c"/>
            <a:r>
              <a:rPr lang="en-US" sz="1600" b="1" dirty="0" smtClean="0">
                <a:solidFill>
                  <a:srgbClr val="2B3A4A"/>
                </a:solidFill>
                <a:latin typeface="Calibri"/>
              </a:rPr>
              <a:t>Generate</a:t>
            </a:r>
            <a:endParaRPr lang="en-US" sz="1600" dirty="0"/>
          </a:p>
        </p:txBody>
      </p:sp>
      <p:sp>
        <p:nvSpPr>
          <p:cNvPr id="29" name="Method Body 4"/>
          <p:cNvSpPr txBox="1"/>
          <p:nvPr/>
        </p:nvSpPr>
        <p:spPr>
          <a:xfrm>
            <a:off x="6062472" y="3310128"/>
            <a:ext cx="1408176" cy="32004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c"/>
            <a:r>
              <a:rPr lang="en-US" sz="1200" dirty="0" smtClean="0">
                <a:solidFill>
                  <a:srgbClr val="5E6B7A"/>
                </a:solidFill>
                <a:latin typeface="Calibri"/>
              </a:rPr>
              <a:t>create summary candidates</a:t>
            </a:r>
            <a:endParaRPr lang="en-US" sz="1200" dirty="0"/>
          </a:p>
        </p:txBody>
      </p:sp>
      <p:sp>
        <p:nvSpPr>
          <p:cNvPr id="30" name="Method Head 5"/>
          <p:cNvSpPr txBox="1"/>
          <p:nvPr/>
        </p:nvSpPr>
        <p:spPr>
          <a:xfrm>
            <a:off x="7909560" y="2907792"/>
            <a:ext cx="1371600" cy="219456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c"/>
            <a:r>
              <a:rPr lang="en-US" sz="1600" b="1" dirty="0" smtClean="0">
                <a:solidFill>
                  <a:srgbClr val="2B3A4A"/>
                </a:solidFill>
                <a:latin typeface="Calibri"/>
              </a:rPr>
              <a:t>Rerank</a:t>
            </a:r>
            <a:endParaRPr lang="en-US" sz="1600" dirty="0"/>
          </a:p>
        </p:txBody>
      </p:sp>
      <p:sp>
        <p:nvSpPr>
          <p:cNvPr id="31" name="Method Body 5"/>
          <p:cNvSpPr txBox="1"/>
          <p:nvPr/>
        </p:nvSpPr>
        <p:spPr>
          <a:xfrm>
            <a:off x="7891272" y="3310128"/>
            <a:ext cx="1408176" cy="32004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c"/>
            <a:r>
              <a:rPr lang="en-US" sz="1200" dirty="0" smtClean="0">
                <a:solidFill>
                  <a:srgbClr val="5E6B7A"/>
                </a:solidFill>
                <a:latin typeface="Calibri"/>
              </a:rPr>
              <a:t>score and select</a:t>
            </a:r>
            <a:endParaRPr lang="en-US" sz="1200" dirty="0"/>
          </a:p>
        </p:txBody>
      </p:sp>
      <p:sp>
        <p:nvSpPr>
          <p:cNvPr id="32" name="Method Head 6"/>
          <p:cNvSpPr txBox="1"/>
          <p:nvPr/>
        </p:nvSpPr>
        <p:spPr>
          <a:xfrm>
            <a:off x="9464040" y="2907792"/>
            <a:ext cx="1143000" cy="219456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c"/>
            <a:r>
              <a:rPr lang="en-US" sz="1600" b="1" dirty="0" smtClean="0">
                <a:solidFill>
                  <a:srgbClr val="2B3A4A"/>
                </a:solidFill>
                <a:latin typeface="Calibri"/>
              </a:rPr>
              <a:t>Output</a:t>
            </a:r>
            <a:endParaRPr lang="en-US" sz="1600" dirty="0"/>
          </a:p>
        </p:txBody>
      </p:sp>
      <p:sp>
        <p:nvSpPr>
          <p:cNvPr id="33" name="Method Body 6"/>
          <p:cNvSpPr txBox="1"/>
          <p:nvPr/>
        </p:nvSpPr>
        <p:spPr>
          <a:xfrm>
            <a:off x="9445752" y="3310128"/>
            <a:ext cx="1179576" cy="32004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c"/>
            <a:r>
              <a:rPr lang="en-US" sz="1200" dirty="0" smtClean="0">
                <a:solidFill>
                  <a:srgbClr val="5E6B7A"/>
                </a:solidFill>
                <a:latin typeface="Calibri"/>
              </a:rPr>
              <a:t>best summary + metrics</a:t>
            </a:r>
            <a:endParaRPr lang="en-US" sz="1200" dirty="0"/>
          </a:p>
        </p:txBody>
      </p:sp>
      <p:sp>
        <p:nvSpPr>
          <p:cNvPr id="34" name="Method Note"/>
          <p:cNvSpPr txBox="1"/>
          <p:nvPr/>
        </p:nvSpPr>
        <p:spPr>
          <a:xfrm>
            <a:off x="914400" y="4617720"/>
            <a:ext cx="9875520" cy="64008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c"/>
            <a:r>
              <a:rPr lang="en-US" sz="1800" dirty="0" smtClean="0">
                <a:solidFill>
                  <a:srgbClr val="7B8696"/>
                </a:solidFill>
                <a:latin typeface="Calibri"/>
              </a:rPr>
              <a:t>Core idea: do not trust a single generated summary. Generate multiple candidates and choose the one that best matches the legal argument structure.</a:t>
            </a:r>
            <a:endParaRPr lang="en-US" sz="1800" dirty="0"/>
          </a:p>
        </p:txBody>
      </p:sp>
      <p:sp>
        <p:nvSpPr>
          <p:cNvPr id="35" name="Footer Left 3"/>
          <p:cNvSpPr txBox="1"/>
          <p:nvPr/>
        </p:nvSpPr>
        <p:spPr>
          <a:xfrm>
            <a:off x="685800" y="6400800"/>
            <a:ext cx="2926080" cy="2286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en-US" sz="1000" dirty="0" smtClean="0">
                <a:solidFill>
                  <a:srgbClr val="5E6B7A"/>
                </a:solidFill>
                <a:latin typeface="Calibri"/>
              </a:rPr>
              <a:t>Legal Argument-Aware Summarization MVP</a:t>
            </a:r>
            <a:endParaRPr lang="en-US" sz="1000" dirty="0"/>
          </a:p>
        </p:txBody>
      </p:sp>
      <p:sp>
        <p:nvSpPr>
          <p:cNvPr id="36" name="Footer Right 3"/>
          <p:cNvSpPr txBox="1"/>
          <p:nvPr/>
        </p:nvSpPr>
        <p:spPr>
          <a:xfrm>
            <a:off x="10561320" y="635508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r"/>
            <a:r>
              <a:rPr lang="en-US" sz="1200" b="1" dirty="0" smtClean="0">
                <a:solidFill>
                  <a:srgbClr val="7B8696"/>
                </a:solidFill>
                <a:latin typeface="Calibri"/>
              </a:rPr>
              <a:t>03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Accent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3F5F8A"/>
          </a:solidFill>
          <a:ln>
            <a:noFill/>
          </a:ln>
        </p:spPr>
      </p:sp>
      <p:sp>
        <p:nvSpPr>
          <p:cNvPr id="3" name="Preprocess Panel"/>
          <p:cNvSpPr/>
          <p:nvPr/>
        </p:nvSpPr>
        <p:spPr>
          <a:xfrm>
            <a:off x="822960" y="1783080"/>
            <a:ext cx="4983480" cy="4160520"/>
          </a:xfrm>
          <a:prstGeom prst="rect">
            <a:avLst/>
          </a:prstGeom>
          <a:solidFill>
            <a:srgbClr val="FFFFFF"/>
          </a:solidFill>
          <a:ln w="9525">
            <a:solidFill>
              <a:srgbClr val="C9D2DC"/>
            </a:solidFill>
          </a:ln>
        </p:spPr>
      </p:sp>
      <p:sp>
        <p:nvSpPr>
          <p:cNvPr id="4" name="Preprocess Panel Accent"/>
          <p:cNvSpPr/>
          <p:nvPr/>
        </p:nvSpPr>
        <p:spPr>
          <a:xfrm>
            <a:off x="822960" y="1783080"/>
            <a:ext cx="4983480" cy="73152"/>
          </a:xfrm>
          <a:prstGeom prst="rect">
            <a:avLst/>
          </a:prstGeom>
          <a:solidFill>
            <a:srgbClr val="7B8696"/>
          </a:solidFill>
          <a:ln>
            <a:noFill/>
          </a:ln>
        </p:spPr>
      </p:sp>
      <p:sp>
        <p:nvSpPr>
          <p:cNvPr id="5" name="Chunk Panel Academic"/>
          <p:cNvSpPr/>
          <p:nvPr/>
        </p:nvSpPr>
        <p:spPr>
          <a:xfrm>
            <a:off x="6080760" y="1783080"/>
            <a:ext cx="5074920" cy="4160520"/>
          </a:xfrm>
          <a:prstGeom prst="rect">
            <a:avLst/>
          </a:prstGeom>
          <a:solidFill>
            <a:srgbClr val="FFFFFF"/>
          </a:solidFill>
          <a:ln w="9525">
            <a:solidFill>
              <a:srgbClr val="C9D2DC"/>
            </a:solidFill>
          </a:ln>
        </p:spPr>
      </p:sp>
      <p:sp>
        <p:nvSpPr>
          <p:cNvPr id="6" name="Chunk Panel Academic Accent"/>
          <p:cNvSpPr/>
          <p:nvPr/>
        </p:nvSpPr>
        <p:spPr>
          <a:xfrm>
            <a:off x="6080760" y="1783080"/>
            <a:ext cx="5074920" cy="73152"/>
          </a:xfrm>
          <a:prstGeom prst="rect">
            <a:avLst/>
          </a:prstGeom>
          <a:solidFill>
            <a:srgbClr val="3F5F8A"/>
          </a:solidFill>
          <a:ln>
            <a:noFill/>
          </a:ln>
        </p:spPr>
      </p:sp>
      <p:sp>
        <p:nvSpPr>
          <p:cNvPr id="7" name="Section Label"/>
          <p:cNvSpPr txBox="1"/>
          <p:nvPr/>
        </p:nvSpPr>
        <p:spPr>
          <a:xfrm>
            <a:off x="841248" y="566928"/>
            <a:ext cx="1371600" cy="164592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en-US" sz="1000" b="1" dirty="0" smtClean="0">
                <a:solidFill>
                  <a:srgbClr val="5E6B7A"/>
                </a:solidFill>
                <a:latin typeface="Calibri"/>
              </a:rPr>
              <a:t>PIPELINE</a:t>
            </a:r>
            <a:endParaRPr lang="en-US" sz="1000" dirty="0"/>
          </a:p>
        </p:txBody>
      </p:sp>
      <p:sp>
        <p:nvSpPr>
          <p:cNvPr id="8" name="Slide Title"/>
          <p:cNvSpPr txBox="1"/>
          <p:nvPr/>
        </p:nvSpPr>
        <p:spPr>
          <a:xfrm>
            <a:off x="777240" y="841248"/>
            <a:ext cx="10332720" cy="64008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en-US" sz="2600" b="1" dirty="0" smtClean="0">
                <a:solidFill>
                  <a:srgbClr val="1E2A36"/>
                </a:solidFill>
                <a:latin typeface="Cambria"/>
              </a:rPr>
              <a:t>Preprocessing And Chunking</a:t>
            </a:r>
            <a:endParaRPr lang="en-US" sz="2600" dirty="0"/>
          </a:p>
        </p:txBody>
      </p:sp>
      <p:sp>
        <p:nvSpPr>
          <p:cNvPr id="9" name="Preprocess Panel Title"/>
          <p:cNvSpPr txBox="1"/>
          <p:nvPr/>
        </p:nvSpPr>
        <p:spPr>
          <a:xfrm>
            <a:off x="1005840" y="1947672"/>
            <a:ext cx="4617720" cy="32004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en-US" sz="1800" b="1" dirty="0" smtClean="0">
                <a:solidFill>
                  <a:srgbClr val="2B3A4A"/>
                </a:solidFill>
                <a:latin typeface="Calibri"/>
              </a:rPr>
              <a:t>Preprocessing stages</a:t>
            </a:r>
            <a:endParaRPr lang="en-US" sz="1800" dirty="0"/>
          </a:p>
        </p:txBody>
      </p:sp>
      <p:sp>
        <p:nvSpPr>
          <p:cNvPr id="10" name="Preprocess Panel Body"/>
          <p:cNvSpPr txBox="1"/>
          <p:nvPr/>
        </p:nvSpPr>
        <p:spPr>
          <a:xfrm>
            <a:off x="1005840" y="2331720"/>
            <a:ext cx="4663440" cy="347472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en-US" sz="1600" dirty="0" smtClean="0">
                <a:solidFill>
                  <a:srgbClr val="1E2A36"/>
                </a:solidFill>
                <a:latin typeface="Calibri"/>
              </a:rPr>
              <a:t>- text normalization</a:t>
            </a:r>
            <a:endParaRPr lang="en-US" sz="1600" dirty="0"/>
          </a:p>
          <a:p>
            <a:pPr algn="l"/>
            <a:r>
              <a:rPr lang="en-US" sz="1600" dirty="0" smtClean="0">
                <a:solidFill>
                  <a:srgbClr val="1E2A36"/>
                </a:solidFill>
                <a:latin typeface="Calibri"/>
              </a:rPr>
              <a:t>- legal citation cleanup</a:t>
            </a:r>
            <a:endParaRPr lang="en-US" sz="1600" dirty="0"/>
          </a:p>
          <a:p>
            <a:pPr algn="l"/>
            <a:r>
              <a:rPr lang="en-US" sz="1600" dirty="0" smtClean="0">
                <a:solidFill>
                  <a:srgbClr val="1E2A36"/>
                </a:solidFill>
                <a:latin typeface="Calibri"/>
              </a:rPr>
              <a:t>- whitespace and section-header normalization</a:t>
            </a:r>
            <a:endParaRPr lang="en-US" sz="1600" dirty="0"/>
          </a:p>
          <a:p>
            <a:pPr algn="l"/>
            <a:r>
              <a:rPr lang="en-US" sz="1600" dirty="0" smtClean="0">
                <a:solidFill>
                  <a:srgbClr val="1E2A36"/>
                </a:solidFill>
                <a:latin typeface="Calibri"/>
              </a:rPr>
              <a:t>- paragraph segmentation</a:t>
            </a:r>
            <a:endParaRPr lang="en-US" sz="1600" dirty="0"/>
          </a:p>
          <a:p>
            <a:pPr algn="l"/>
            <a:r>
              <a:rPr lang="en-US" sz="1600" dirty="0" smtClean="0">
                <a:solidFill>
                  <a:srgbClr val="1E2A36"/>
                </a:solidFill>
                <a:latin typeface="Calibri"/>
              </a:rPr>
              <a:t>- sentence segmentation</a:t>
            </a:r>
            <a:endParaRPr lang="en-US" sz="1600" dirty="0"/>
          </a:p>
          <a:p>
            <a:pPr algn="l"/>
            <a:r>
              <a:rPr lang="en-US" sz="1600" dirty="0" smtClean="0">
                <a:solidFill>
                  <a:srgbClr val="1E2A36"/>
                </a:solidFill>
                <a:latin typeface="Calibri"/>
              </a:rPr>
              <a:t>- rhetorical-unit approximation</a:t>
            </a:r>
            <a:endParaRPr lang="en-US" sz="1600" dirty="0"/>
          </a:p>
          <a:p>
            <a:pPr algn="l"/>
            <a:r>
              <a:rPr lang="en-US" sz="1600" dirty="0" smtClean="0">
                <a:solidFill>
                  <a:srgbClr val="1E2A36"/>
                </a:solidFill>
                <a:latin typeface="Calibri"/>
              </a:rPr>
              <a:t>- source-to-segment mapping for explainability</a:t>
            </a:r>
            <a:endParaRPr lang="en-US" sz="1600" dirty="0"/>
          </a:p>
        </p:txBody>
      </p:sp>
      <p:sp>
        <p:nvSpPr>
          <p:cNvPr id="11" name="Chunk Panel Academic Title"/>
          <p:cNvSpPr txBox="1"/>
          <p:nvPr/>
        </p:nvSpPr>
        <p:spPr>
          <a:xfrm>
            <a:off x="6263640" y="1947672"/>
            <a:ext cx="4709159" cy="32004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en-US" sz="1800" b="1" dirty="0" smtClean="0">
                <a:solidFill>
                  <a:srgbClr val="2B3A4A"/>
                </a:solidFill>
                <a:latin typeface="Calibri"/>
              </a:rPr>
              <a:t>Chunking logic</a:t>
            </a:r>
            <a:endParaRPr lang="en-US" sz="1800" dirty="0"/>
          </a:p>
        </p:txBody>
      </p:sp>
      <p:sp>
        <p:nvSpPr>
          <p:cNvPr id="12" name="Chunk Panel Academic Body"/>
          <p:cNvSpPr txBox="1"/>
          <p:nvPr/>
        </p:nvSpPr>
        <p:spPr>
          <a:xfrm>
            <a:off x="6263640" y="2331720"/>
            <a:ext cx="4754880" cy="347472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en-US" sz="1600" dirty="0" smtClean="0">
                <a:solidFill>
                  <a:srgbClr val="1E2A36"/>
                </a:solidFill>
                <a:latin typeface="Calibri"/>
              </a:rPr>
              <a:t>chunk_max_words = 850</a:t>
            </a:r>
            <a:endParaRPr lang="en-US" sz="1600" dirty="0"/>
          </a:p>
          <a:p>
            <a:pPr algn="l"/>
            <a:r>
              <a:rPr lang="en-US" sz="1600" dirty="0" smtClean="0">
                <a:solidFill>
                  <a:srgbClr val="1E2A36"/>
                </a:solidFill>
                <a:latin typeface="Calibri"/>
              </a:rPr>
              <a:t>chunk_overlap_words = 120</a:t>
            </a:r>
            <a:endParaRPr lang="en-US" sz="1600" dirty="0"/>
          </a:p>
          <a:p>
            <a:pPr algn="l"/>
            <a:r>
              <a:rPr lang="en-US" sz="1600" dirty="0" smtClean="0">
                <a:solidFill>
                  <a:srgbClr val="1E2A36"/>
                </a:solidFill>
                <a:latin typeface="Calibri"/>
              </a:rPr>
              <a:t/>
            </a:r>
            <a:endParaRPr lang="en-US" sz="1600" dirty="0"/>
          </a:p>
          <a:p>
            <a:pPr algn="l"/>
            <a:r>
              <a:rPr lang="en-US" sz="1600" dirty="0" smtClean="0">
                <a:solidFill>
                  <a:srgbClr val="1E2A36"/>
                </a:solidFill>
                <a:latin typeface="Calibri"/>
              </a:rPr>
              <a:t>document -&gt; chunk 1 -&gt; chunk 2 -&gt; chunk 3 -&gt; chunk 4</a:t>
            </a:r>
            <a:endParaRPr lang="en-US" sz="1600" dirty="0"/>
          </a:p>
          <a:p>
            <a:pPr algn="l"/>
            <a:r>
              <a:rPr lang="en-US" sz="1600" dirty="0" smtClean="0">
                <a:solidFill>
                  <a:srgbClr val="1E2A36"/>
                </a:solidFill>
                <a:latin typeface="Calibri"/>
              </a:rPr>
              <a:t>overlap keeps reasoning continuous across boundaries</a:t>
            </a:r>
            <a:endParaRPr lang="en-US" sz="1600" dirty="0"/>
          </a:p>
          <a:p>
            <a:pPr algn="l"/>
            <a:r>
              <a:rPr lang="en-US" sz="1600" dirty="0" smtClean="0">
                <a:solidFill>
                  <a:srgbClr val="1E2A36"/>
                </a:solidFill>
                <a:latin typeface="Calibri"/>
              </a:rPr>
              <a:t>this allows LED/BART/T5 based pipelines to handle long cases more safely</a:t>
            </a:r>
            <a:endParaRPr lang="en-US" sz="1600" dirty="0"/>
          </a:p>
        </p:txBody>
      </p:sp>
      <p:sp>
        <p:nvSpPr>
          <p:cNvPr id="13" name="Footer Left 4"/>
          <p:cNvSpPr txBox="1"/>
          <p:nvPr/>
        </p:nvSpPr>
        <p:spPr>
          <a:xfrm>
            <a:off x="685800" y="6400800"/>
            <a:ext cx="2926080" cy="2286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en-US" sz="1000" dirty="0" smtClean="0">
                <a:solidFill>
                  <a:srgbClr val="5E6B7A"/>
                </a:solidFill>
                <a:latin typeface="Calibri"/>
              </a:rPr>
              <a:t>Legal Argument-Aware Summarization MVP</a:t>
            </a:r>
            <a:endParaRPr lang="en-US" sz="1000" dirty="0"/>
          </a:p>
        </p:txBody>
      </p:sp>
      <p:sp>
        <p:nvSpPr>
          <p:cNvPr id="14" name="Footer Right 4"/>
          <p:cNvSpPr txBox="1"/>
          <p:nvPr/>
        </p:nvSpPr>
        <p:spPr>
          <a:xfrm>
            <a:off x="10561320" y="635508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r"/>
            <a:r>
              <a:rPr lang="en-US" sz="1200" b="1" dirty="0" smtClean="0">
                <a:solidFill>
                  <a:srgbClr val="7B8696"/>
                </a:solidFill>
                <a:latin typeface="Calibri"/>
              </a:rPr>
              <a:t>04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Accent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3F5F8A"/>
          </a:solidFill>
          <a:ln>
            <a:noFill/>
          </a:ln>
        </p:spPr>
      </p:sp>
      <p:sp>
        <p:nvSpPr>
          <p:cNvPr id="3" name="Role Academic Panel"/>
          <p:cNvSpPr/>
          <p:nvPr/>
        </p:nvSpPr>
        <p:spPr>
          <a:xfrm>
            <a:off x="822960" y="1783080"/>
            <a:ext cx="4983480" cy="4160520"/>
          </a:xfrm>
          <a:prstGeom prst="rect">
            <a:avLst/>
          </a:prstGeom>
          <a:solidFill>
            <a:srgbClr val="FFFFFF"/>
          </a:solidFill>
          <a:ln w="9525">
            <a:solidFill>
              <a:srgbClr val="C9D2DC"/>
            </a:solidFill>
          </a:ln>
        </p:spPr>
      </p:sp>
      <p:sp>
        <p:nvSpPr>
          <p:cNvPr id="4" name="Role Academic Panel Accent"/>
          <p:cNvSpPr/>
          <p:nvPr/>
        </p:nvSpPr>
        <p:spPr>
          <a:xfrm>
            <a:off x="822960" y="1783080"/>
            <a:ext cx="4983480" cy="73152"/>
          </a:xfrm>
          <a:prstGeom prst="rect">
            <a:avLst/>
          </a:prstGeom>
          <a:solidFill>
            <a:srgbClr val="7B8696"/>
          </a:solidFill>
          <a:ln>
            <a:noFill/>
          </a:ln>
        </p:spPr>
      </p:sp>
      <p:sp>
        <p:nvSpPr>
          <p:cNvPr id="5" name="Candidate Academic Panel"/>
          <p:cNvSpPr/>
          <p:nvPr/>
        </p:nvSpPr>
        <p:spPr>
          <a:xfrm>
            <a:off x="6080760" y="1783080"/>
            <a:ext cx="5074920" cy="4160520"/>
          </a:xfrm>
          <a:prstGeom prst="rect">
            <a:avLst/>
          </a:prstGeom>
          <a:solidFill>
            <a:srgbClr val="FFFFFF"/>
          </a:solidFill>
          <a:ln w="9525">
            <a:solidFill>
              <a:srgbClr val="C9D2DC"/>
            </a:solidFill>
          </a:ln>
        </p:spPr>
      </p:sp>
      <p:sp>
        <p:nvSpPr>
          <p:cNvPr id="6" name="Candidate Academic Panel Accent"/>
          <p:cNvSpPr/>
          <p:nvPr/>
        </p:nvSpPr>
        <p:spPr>
          <a:xfrm>
            <a:off x="6080760" y="1783080"/>
            <a:ext cx="5074920" cy="73152"/>
          </a:xfrm>
          <a:prstGeom prst="rect">
            <a:avLst/>
          </a:prstGeom>
          <a:solidFill>
            <a:srgbClr val="3F5F8A"/>
          </a:solidFill>
          <a:ln>
            <a:noFill/>
          </a:ln>
        </p:spPr>
      </p:sp>
      <p:sp>
        <p:nvSpPr>
          <p:cNvPr id="7" name="Section Label"/>
          <p:cNvSpPr txBox="1"/>
          <p:nvPr/>
        </p:nvSpPr>
        <p:spPr>
          <a:xfrm>
            <a:off x="841248" y="566928"/>
            <a:ext cx="1371600" cy="164592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en-US" sz="1000" b="1" dirty="0" smtClean="0">
                <a:solidFill>
                  <a:srgbClr val="5E6B7A"/>
                </a:solidFill>
                <a:latin typeface="Calibri"/>
              </a:rPr>
              <a:t>MODELING</a:t>
            </a:r>
            <a:endParaRPr lang="en-US" sz="1000" dirty="0"/>
          </a:p>
        </p:txBody>
      </p:sp>
      <p:sp>
        <p:nvSpPr>
          <p:cNvPr id="8" name="Slide Title"/>
          <p:cNvSpPr txBox="1"/>
          <p:nvPr/>
        </p:nvSpPr>
        <p:spPr>
          <a:xfrm>
            <a:off x="777240" y="841248"/>
            <a:ext cx="10332720" cy="64008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en-US" sz="2600" b="1" dirty="0" smtClean="0">
                <a:solidFill>
                  <a:srgbClr val="1E2A36"/>
                </a:solidFill>
                <a:latin typeface="Cambria"/>
              </a:rPr>
              <a:t>Role Prediction And Candidate Generation</a:t>
            </a:r>
            <a:endParaRPr lang="en-US" sz="2600" dirty="0"/>
          </a:p>
        </p:txBody>
      </p:sp>
      <p:sp>
        <p:nvSpPr>
          <p:cNvPr id="9" name="Role Academic Panel Title"/>
          <p:cNvSpPr txBox="1"/>
          <p:nvPr/>
        </p:nvSpPr>
        <p:spPr>
          <a:xfrm>
            <a:off x="1005840" y="1947672"/>
            <a:ext cx="4617720" cy="32004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en-US" sz="1800" b="1" dirty="0" smtClean="0">
                <a:solidFill>
                  <a:srgbClr val="2B3A4A"/>
                </a:solidFill>
                <a:latin typeface="Calibri"/>
              </a:rPr>
              <a:t>Rhetorical role module</a:t>
            </a:r>
            <a:endParaRPr lang="en-US" sz="1800" dirty="0"/>
          </a:p>
        </p:txBody>
      </p:sp>
      <p:sp>
        <p:nvSpPr>
          <p:cNvPr id="10" name="Role Academic Panel Body"/>
          <p:cNvSpPr txBox="1"/>
          <p:nvPr/>
        </p:nvSpPr>
        <p:spPr>
          <a:xfrm>
            <a:off x="1005840" y="2331720"/>
            <a:ext cx="4663440" cy="347472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en-US" sz="1600" dirty="0" smtClean="0">
                <a:solidFill>
                  <a:srgbClr val="1E2A36"/>
                </a:solidFill>
                <a:latin typeface="Calibri"/>
              </a:rPr>
              <a:t>labels = facts, issue, arguments, analysis, ruling, statute, other</a:t>
            </a:r>
            <a:endParaRPr lang="en-US" sz="1600" dirty="0"/>
          </a:p>
          <a:p>
            <a:pPr algn="l"/>
            <a:r>
              <a:rPr lang="en-US" sz="1600" dirty="0" smtClean="0">
                <a:solidFill>
                  <a:srgbClr val="1E2A36"/>
                </a:solidFill>
                <a:latin typeface="Calibri"/>
              </a:rPr>
              <a:t>preferred model = law-ai/InLegalBERT</a:t>
            </a:r>
            <a:endParaRPr lang="en-US" sz="1600" dirty="0"/>
          </a:p>
          <a:p>
            <a:pPr algn="l"/>
            <a:r>
              <a:rPr lang="en-US" sz="1600" dirty="0" smtClean="0">
                <a:solidFill>
                  <a:srgbClr val="1E2A36"/>
                </a:solidFill>
                <a:latin typeface="Calibri"/>
              </a:rPr>
              <a:t>alternative = nlpaueb/legal-bert-base-uncased</a:t>
            </a:r>
            <a:endParaRPr lang="en-US" sz="1600" dirty="0"/>
          </a:p>
          <a:p>
            <a:pPr algn="l"/>
            <a:r>
              <a:rPr lang="en-US" sz="1600" dirty="0" smtClean="0">
                <a:solidFill>
                  <a:srgbClr val="1E2A36"/>
                </a:solidFill>
                <a:latin typeface="Calibri"/>
              </a:rPr>
              <a:t>fallback = heuristics based on cue phrases, headers, regex, and keyword dictionaries</a:t>
            </a:r>
            <a:endParaRPr lang="en-US" sz="1600" dirty="0"/>
          </a:p>
          <a:p>
            <a:pPr algn="l"/>
            <a:r>
              <a:rPr lang="en-US" sz="1600" dirty="0" smtClean="0">
                <a:solidFill>
                  <a:srgbClr val="1E2A36"/>
                </a:solidFill>
                <a:latin typeface="Calibri"/>
              </a:rPr>
              <a:t>output = label + confidence + top-k probabilities</a:t>
            </a:r>
            <a:endParaRPr lang="en-US" sz="1600" dirty="0"/>
          </a:p>
        </p:txBody>
      </p:sp>
      <p:sp>
        <p:nvSpPr>
          <p:cNvPr id="11" name="Candidate Academic Panel Title"/>
          <p:cNvSpPr txBox="1"/>
          <p:nvPr/>
        </p:nvSpPr>
        <p:spPr>
          <a:xfrm>
            <a:off x="6263640" y="1947672"/>
            <a:ext cx="4709159" cy="32004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en-US" sz="1800" b="1" dirty="0" smtClean="0">
                <a:solidFill>
                  <a:srgbClr val="2B3A4A"/>
                </a:solidFill>
                <a:latin typeface="Calibri"/>
              </a:rPr>
              <a:t>Candidate generation</a:t>
            </a:r>
            <a:endParaRPr lang="en-US" sz="1800" dirty="0"/>
          </a:p>
        </p:txBody>
      </p:sp>
      <p:sp>
        <p:nvSpPr>
          <p:cNvPr id="12" name="Candidate Academic Panel Body"/>
          <p:cNvSpPr txBox="1"/>
          <p:nvPr/>
        </p:nvSpPr>
        <p:spPr>
          <a:xfrm>
            <a:off x="6263640" y="2331720"/>
            <a:ext cx="4754880" cy="347472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en-US" sz="1600" dirty="0" smtClean="0">
                <a:solidFill>
                  <a:srgbClr val="1E2A36"/>
                </a:solidFill>
                <a:latin typeface="Calibri"/>
              </a:rPr>
              <a:t>preferred summarizer = allenai/led-base-16384</a:t>
            </a:r>
            <a:endParaRPr lang="en-US" sz="1600" dirty="0"/>
          </a:p>
          <a:p>
            <a:pPr algn="l"/>
            <a:r>
              <a:rPr lang="en-US" sz="1600" dirty="0" smtClean="0">
                <a:solidFill>
                  <a:srgbClr val="1E2A36"/>
                </a:solidFill>
                <a:latin typeface="Calibri"/>
              </a:rPr>
              <a:t>fallbacks = facebook/bart-large-cnn, google/flan-t5-base</a:t>
            </a:r>
            <a:endParaRPr lang="en-US" sz="1600" dirty="0"/>
          </a:p>
          <a:p>
            <a:pPr algn="l"/>
            <a:r>
              <a:rPr lang="en-US" sz="1600" dirty="0" smtClean="0">
                <a:solidFill>
                  <a:srgbClr val="1E2A36"/>
                </a:solidFill>
                <a:latin typeface="Calibri"/>
              </a:rPr>
              <a:t>strategies:</a:t>
            </a:r>
            <a:endParaRPr lang="en-US" sz="1600" dirty="0"/>
          </a:p>
          <a:p>
            <a:pPr algn="l"/>
            <a:r>
              <a:rPr lang="en-US" sz="1600" dirty="0" smtClean="0">
                <a:solidFill>
                  <a:srgbClr val="1E2A36"/>
                </a:solidFill>
                <a:latin typeface="Calibri"/>
              </a:rPr>
              <a:t>- baseline_full_document</a:t>
            </a:r>
            <a:endParaRPr lang="en-US" sz="1600" dirty="0"/>
          </a:p>
          <a:p>
            <a:pPr algn="l"/>
            <a:r>
              <a:rPr lang="en-US" sz="1600" dirty="0" smtClean="0">
                <a:solidFill>
                  <a:srgbClr val="1E2A36"/>
                </a:solidFill>
                <a:latin typeface="Calibri"/>
              </a:rPr>
              <a:t>- role_focus_facts_issue_ruling</a:t>
            </a:r>
            <a:endParaRPr lang="en-US" sz="1600" dirty="0"/>
          </a:p>
          <a:p>
            <a:pPr algn="l"/>
            <a:r>
              <a:rPr lang="en-US" sz="1600" dirty="0" smtClean="0">
                <a:solidFill>
                  <a:srgbClr val="1E2A36"/>
                </a:solidFill>
                <a:latin typeface="Calibri"/>
              </a:rPr>
              <a:t>- analysis_heavy</a:t>
            </a:r>
            <a:endParaRPr lang="en-US" sz="1600" dirty="0"/>
          </a:p>
          <a:p>
            <a:pPr algn="l"/>
            <a:r>
              <a:rPr lang="en-US" sz="1600" dirty="0" smtClean="0">
                <a:solidFill>
                  <a:srgbClr val="1E2A36"/>
                </a:solidFill>
                <a:latin typeface="Calibri"/>
              </a:rPr>
              <a:t>- chunk_merge_conservative / chunk_merge_diverse</a:t>
            </a:r>
            <a:endParaRPr lang="en-US" sz="1600" dirty="0"/>
          </a:p>
        </p:txBody>
      </p:sp>
      <p:sp>
        <p:nvSpPr>
          <p:cNvPr id="13" name="Footer Left 5"/>
          <p:cNvSpPr txBox="1"/>
          <p:nvPr/>
        </p:nvSpPr>
        <p:spPr>
          <a:xfrm>
            <a:off x="685800" y="6400800"/>
            <a:ext cx="2926080" cy="2286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en-US" sz="1000" dirty="0" smtClean="0">
                <a:solidFill>
                  <a:srgbClr val="5E6B7A"/>
                </a:solidFill>
                <a:latin typeface="Calibri"/>
              </a:rPr>
              <a:t>Legal Argument-Aware Summarization MVP</a:t>
            </a:r>
            <a:endParaRPr lang="en-US" sz="1000" dirty="0"/>
          </a:p>
        </p:txBody>
      </p:sp>
      <p:sp>
        <p:nvSpPr>
          <p:cNvPr id="14" name="Footer Right 5"/>
          <p:cNvSpPr txBox="1"/>
          <p:nvPr/>
        </p:nvSpPr>
        <p:spPr>
          <a:xfrm>
            <a:off x="10561320" y="635508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r"/>
            <a:r>
              <a:rPr lang="en-US" sz="1200" b="1" dirty="0" smtClean="0">
                <a:solidFill>
                  <a:srgbClr val="7B8696"/>
                </a:solidFill>
                <a:latin typeface="Calibri"/>
              </a:rPr>
              <a:t>05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Accent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3F5F8A"/>
          </a:solidFill>
          <a:ln>
            <a:noFill/>
          </a:ln>
        </p:spPr>
      </p:sp>
      <p:sp>
        <p:nvSpPr>
          <p:cNvPr id="3" name="Formula Panel"/>
          <p:cNvSpPr/>
          <p:nvPr/>
        </p:nvSpPr>
        <p:spPr>
          <a:xfrm>
            <a:off x="822960" y="1783080"/>
            <a:ext cx="5074920" cy="4160520"/>
          </a:xfrm>
          <a:prstGeom prst="rect">
            <a:avLst/>
          </a:prstGeom>
          <a:solidFill>
            <a:srgbClr val="FFFFFF"/>
          </a:solidFill>
          <a:ln w="9525">
            <a:solidFill>
              <a:srgbClr val="C9D2DC"/>
            </a:solidFill>
          </a:ln>
        </p:spPr>
      </p:sp>
      <p:sp>
        <p:nvSpPr>
          <p:cNvPr id="4" name="Formula Panel Accent"/>
          <p:cNvSpPr/>
          <p:nvPr/>
        </p:nvSpPr>
        <p:spPr>
          <a:xfrm>
            <a:off x="822960" y="1783080"/>
            <a:ext cx="5074920" cy="73152"/>
          </a:xfrm>
          <a:prstGeom prst="rect">
            <a:avLst/>
          </a:prstGeom>
          <a:solidFill>
            <a:srgbClr val="7B8696"/>
          </a:solidFill>
          <a:ln>
            <a:noFill/>
          </a:ln>
        </p:spPr>
      </p:sp>
      <p:sp>
        <p:nvSpPr>
          <p:cNvPr id="5" name="Explain Formula Panel"/>
          <p:cNvSpPr/>
          <p:nvPr/>
        </p:nvSpPr>
        <p:spPr>
          <a:xfrm>
            <a:off x="6080760" y="1783080"/>
            <a:ext cx="5074920" cy="4160520"/>
          </a:xfrm>
          <a:prstGeom prst="rect">
            <a:avLst/>
          </a:prstGeom>
          <a:solidFill>
            <a:srgbClr val="FFFFFF"/>
          </a:solidFill>
          <a:ln w="9525">
            <a:solidFill>
              <a:srgbClr val="C9D2DC"/>
            </a:solidFill>
          </a:ln>
        </p:spPr>
      </p:sp>
      <p:sp>
        <p:nvSpPr>
          <p:cNvPr id="6" name="Explain Formula Panel Accent"/>
          <p:cNvSpPr/>
          <p:nvPr/>
        </p:nvSpPr>
        <p:spPr>
          <a:xfrm>
            <a:off x="6080760" y="1783080"/>
            <a:ext cx="5074920" cy="73152"/>
          </a:xfrm>
          <a:prstGeom prst="rect">
            <a:avLst/>
          </a:prstGeom>
          <a:solidFill>
            <a:srgbClr val="3F5F8A"/>
          </a:solidFill>
          <a:ln>
            <a:noFill/>
          </a:ln>
        </p:spPr>
      </p:sp>
      <p:sp>
        <p:nvSpPr>
          <p:cNvPr id="7" name="Section Label"/>
          <p:cNvSpPr txBox="1"/>
          <p:nvPr/>
        </p:nvSpPr>
        <p:spPr>
          <a:xfrm>
            <a:off x="841248" y="566928"/>
            <a:ext cx="1371600" cy="164592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en-US" sz="1000" b="1" dirty="0" smtClean="0">
                <a:solidFill>
                  <a:srgbClr val="5E6B7A"/>
                </a:solidFill>
                <a:latin typeface="Calibri"/>
              </a:rPr>
              <a:t>RERANKING</a:t>
            </a:r>
            <a:endParaRPr lang="en-US" sz="1000" dirty="0"/>
          </a:p>
        </p:txBody>
      </p:sp>
      <p:sp>
        <p:nvSpPr>
          <p:cNvPr id="8" name="Slide Title"/>
          <p:cNvSpPr txBox="1"/>
          <p:nvPr/>
        </p:nvSpPr>
        <p:spPr>
          <a:xfrm>
            <a:off x="777240" y="841248"/>
            <a:ext cx="10332720" cy="64008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en-US" sz="2600" b="1" dirty="0" smtClean="0">
                <a:solidFill>
                  <a:srgbClr val="1E2A36"/>
                </a:solidFill>
                <a:latin typeface="Cambria"/>
              </a:rPr>
              <a:t>Reranking Formula And Selection Logic</a:t>
            </a:r>
            <a:endParaRPr lang="en-US" sz="2600" dirty="0"/>
          </a:p>
        </p:txBody>
      </p:sp>
      <p:sp>
        <p:nvSpPr>
          <p:cNvPr id="9" name="Formula Panel Title"/>
          <p:cNvSpPr txBox="1"/>
          <p:nvPr/>
        </p:nvSpPr>
        <p:spPr>
          <a:xfrm>
            <a:off x="1005840" y="1947672"/>
            <a:ext cx="4709159" cy="32004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en-US" sz="1800" b="1" dirty="0" smtClean="0">
                <a:solidFill>
                  <a:srgbClr val="2B3A4A"/>
                </a:solidFill>
                <a:latin typeface="Calibri"/>
              </a:rPr>
              <a:t>Final score</a:t>
            </a:r>
            <a:endParaRPr lang="en-US" sz="1800" dirty="0"/>
          </a:p>
        </p:txBody>
      </p:sp>
      <p:sp>
        <p:nvSpPr>
          <p:cNvPr id="10" name="Formula Panel Body"/>
          <p:cNvSpPr txBox="1"/>
          <p:nvPr/>
        </p:nvSpPr>
        <p:spPr>
          <a:xfrm>
            <a:off x="1005840" y="2331720"/>
            <a:ext cx="4754880" cy="347472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en-US" sz="1600" dirty="0" smtClean="0">
                <a:solidFill>
                  <a:srgbClr val="1E2A36"/>
                </a:solidFill>
                <a:latin typeface="Calibri"/>
              </a:rPr>
              <a:t>final_score =</a:t>
            </a:r>
            <a:endParaRPr lang="en-US" sz="1600" dirty="0"/>
          </a:p>
          <a:p>
            <a:pPr algn="l"/>
            <a:r>
              <a:rPr lang="en-US" sz="1600" dirty="0" smtClean="0">
                <a:solidFill>
                  <a:srgbClr val="1E2A36"/>
                </a:solidFill>
                <a:latin typeface="Calibri"/>
              </a:rPr>
              <a:t>0.38 * semantic_similarity</a:t>
            </a:r>
            <a:endParaRPr lang="en-US" sz="1600" dirty="0"/>
          </a:p>
          <a:p>
            <a:pPr algn="l"/>
            <a:r>
              <a:rPr lang="en-US" sz="1600" dirty="0" smtClean="0">
                <a:solidFill>
                  <a:srgbClr val="1E2A36"/>
                </a:solidFill>
                <a:latin typeface="Calibri"/>
              </a:rPr>
              <a:t>+ 0.26 * role_coverage</a:t>
            </a:r>
            <a:endParaRPr lang="en-US" sz="1600" dirty="0"/>
          </a:p>
          <a:p>
            <a:pPr algn="l"/>
            <a:r>
              <a:rPr lang="en-US" sz="1600" dirty="0" smtClean="0">
                <a:solidFill>
                  <a:srgbClr val="1E2A36"/>
                </a:solidFill>
                <a:latin typeface="Calibri"/>
              </a:rPr>
              <a:t>+ 0.20 * factual_proxy</a:t>
            </a:r>
            <a:endParaRPr lang="en-US" sz="1600" dirty="0"/>
          </a:p>
          <a:p>
            <a:pPr algn="l"/>
            <a:r>
              <a:rPr lang="en-US" sz="1600" dirty="0" smtClean="0">
                <a:solidFill>
                  <a:srgbClr val="1E2A36"/>
                </a:solidFill>
                <a:latin typeface="Calibri"/>
              </a:rPr>
              <a:t>+ 0.08 * readability_bonus</a:t>
            </a:r>
            <a:endParaRPr lang="en-US" sz="1600" dirty="0"/>
          </a:p>
          <a:p>
            <a:pPr algn="l"/>
            <a:r>
              <a:rPr lang="en-US" sz="1600" dirty="0" smtClean="0">
                <a:solidFill>
                  <a:srgbClr val="1E2A36"/>
                </a:solidFill>
                <a:latin typeface="Calibri"/>
              </a:rPr>
              <a:t>- redundancy_penalty - length_penalty</a:t>
            </a:r>
            <a:endParaRPr lang="en-US" sz="1600" dirty="0"/>
          </a:p>
        </p:txBody>
      </p:sp>
      <p:sp>
        <p:nvSpPr>
          <p:cNvPr id="11" name="Explain Formula Panel Title"/>
          <p:cNvSpPr txBox="1"/>
          <p:nvPr/>
        </p:nvSpPr>
        <p:spPr>
          <a:xfrm>
            <a:off x="6263640" y="1947672"/>
            <a:ext cx="4709159" cy="32004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en-US" sz="1800" b="1" dirty="0" smtClean="0">
                <a:solidFill>
                  <a:srgbClr val="2B3A4A"/>
                </a:solidFill>
                <a:latin typeface="Calibri"/>
              </a:rPr>
              <a:t>Why each term matters</a:t>
            </a:r>
            <a:endParaRPr lang="en-US" sz="1800" dirty="0"/>
          </a:p>
        </p:txBody>
      </p:sp>
      <p:sp>
        <p:nvSpPr>
          <p:cNvPr id="12" name="Explain Formula Panel Body"/>
          <p:cNvSpPr txBox="1"/>
          <p:nvPr/>
        </p:nvSpPr>
        <p:spPr>
          <a:xfrm>
            <a:off x="6263640" y="2331720"/>
            <a:ext cx="4754880" cy="347472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en-US" sz="1600" dirty="0" smtClean="0">
                <a:solidFill>
                  <a:srgbClr val="1E2A36"/>
                </a:solidFill>
                <a:latin typeface="Calibri"/>
              </a:rPr>
              <a:t>- semantic_similarity: meaning match with the source</a:t>
            </a:r>
            <a:endParaRPr lang="en-US" sz="1600" dirty="0"/>
          </a:p>
          <a:p>
            <a:pPr algn="l"/>
            <a:r>
              <a:rPr lang="en-US" sz="1600" dirty="0" smtClean="0">
                <a:solidFill>
                  <a:srgbClr val="1E2A36"/>
                </a:solidFill>
                <a:latin typeface="Calibri"/>
              </a:rPr>
              <a:t>- role_coverage: whether important legal roles are present</a:t>
            </a:r>
            <a:endParaRPr lang="en-US" sz="1600" dirty="0"/>
          </a:p>
          <a:p>
            <a:pPr algn="l"/>
            <a:r>
              <a:rPr lang="en-US" sz="1600" dirty="0" smtClean="0">
                <a:solidFill>
                  <a:srgbClr val="1E2A36"/>
                </a:solidFill>
                <a:latin typeface="Calibri"/>
              </a:rPr>
              <a:t>- factual_proxy: overlap of citations, numbers, and support-like cues</a:t>
            </a:r>
            <a:endParaRPr lang="en-US" sz="1600" dirty="0"/>
          </a:p>
          <a:p>
            <a:pPr algn="l"/>
            <a:r>
              <a:rPr lang="en-US" sz="1600" dirty="0" smtClean="0">
                <a:solidFill>
                  <a:srgbClr val="1E2A36"/>
                </a:solidFill>
                <a:latin typeface="Calibri"/>
              </a:rPr>
              <a:t>- redundancy_penalty: repeated content should be punished</a:t>
            </a:r>
            <a:endParaRPr lang="en-US" sz="1600" dirty="0"/>
          </a:p>
          <a:p>
            <a:pPr algn="l"/>
            <a:r>
              <a:rPr lang="en-US" sz="1600" dirty="0" smtClean="0">
                <a:solidFill>
                  <a:srgbClr val="1E2A36"/>
                </a:solidFill>
                <a:latin typeface="Calibri"/>
              </a:rPr>
              <a:t>- length_penalty: very short or very long summaries should be penalized</a:t>
            </a:r>
            <a:endParaRPr lang="en-US" sz="1600" dirty="0"/>
          </a:p>
        </p:txBody>
      </p:sp>
      <p:sp>
        <p:nvSpPr>
          <p:cNvPr id="13" name="Reranking Example"/>
          <p:cNvSpPr txBox="1"/>
          <p:nvPr/>
        </p:nvSpPr>
        <p:spPr>
          <a:xfrm>
            <a:off x="960120" y="2880360"/>
            <a:ext cx="4297680" cy="118872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en-US" sz="1500" dirty="0" smtClean="0">
                <a:solidFill>
                  <a:srgbClr val="2B3A4A"/>
                </a:solidFill>
                <a:latin typeface="Consolas"/>
              </a:rPr>
              <a:t>Example score card
semantic_similarity = 0.86
role_coverage = 0.78
factual_proxy = 0.74
final_score = 0.80</a:t>
            </a:r>
            <a:endParaRPr lang="en-US" sz="1500" dirty="0"/>
          </a:p>
        </p:txBody>
      </p:sp>
      <p:sp>
        <p:nvSpPr>
          <p:cNvPr id="14" name="Footer Left 6"/>
          <p:cNvSpPr txBox="1"/>
          <p:nvPr/>
        </p:nvSpPr>
        <p:spPr>
          <a:xfrm>
            <a:off x="685800" y="6400800"/>
            <a:ext cx="2926080" cy="2286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en-US" sz="1000" dirty="0" smtClean="0">
                <a:solidFill>
                  <a:srgbClr val="5E6B7A"/>
                </a:solidFill>
                <a:latin typeface="Calibri"/>
              </a:rPr>
              <a:t>Legal Argument-Aware Summarization MVP</a:t>
            </a:r>
            <a:endParaRPr lang="en-US" sz="1000" dirty="0"/>
          </a:p>
        </p:txBody>
      </p:sp>
      <p:sp>
        <p:nvSpPr>
          <p:cNvPr id="15" name="Footer Right 6"/>
          <p:cNvSpPr txBox="1"/>
          <p:nvPr/>
        </p:nvSpPr>
        <p:spPr>
          <a:xfrm>
            <a:off x="10561320" y="635508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r"/>
            <a:r>
              <a:rPr lang="en-US" sz="1200" b="1" dirty="0" smtClean="0">
                <a:solidFill>
                  <a:srgbClr val="7B8696"/>
                </a:solidFill>
                <a:latin typeface="Calibri"/>
              </a:rPr>
              <a:t>06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Accent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3F5F8A"/>
          </a:solidFill>
          <a:ln>
            <a:noFill/>
          </a:ln>
        </p:spPr>
      </p:sp>
      <p:sp>
        <p:nvSpPr>
          <p:cNvPr id="3" name="ROUGE Panel"/>
          <p:cNvSpPr/>
          <p:nvPr/>
        </p:nvSpPr>
        <p:spPr>
          <a:xfrm>
            <a:off x="822960" y="1783080"/>
            <a:ext cx="3429000" cy="4160520"/>
          </a:xfrm>
          <a:prstGeom prst="rect">
            <a:avLst/>
          </a:prstGeom>
          <a:solidFill>
            <a:srgbClr val="FFFFFF"/>
          </a:solidFill>
          <a:ln w="9525">
            <a:solidFill>
              <a:srgbClr val="C9D2DC"/>
            </a:solidFill>
          </a:ln>
        </p:spPr>
      </p:sp>
      <p:sp>
        <p:nvSpPr>
          <p:cNvPr id="4" name="ROUGE Panel Accent"/>
          <p:cNvSpPr/>
          <p:nvPr/>
        </p:nvSpPr>
        <p:spPr>
          <a:xfrm>
            <a:off x="822960" y="1783080"/>
            <a:ext cx="3429000" cy="73152"/>
          </a:xfrm>
          <a:prstGeom prst="rect">
            <a:avLst/>
          </a:prstGeom>
          <a:solidFill>
            <a:srgbClr val="7B8696"/>
          </a:solidFill>
          <a:ln>
            <a:noFill/>
          </a:ln>
        </p:spPr>
      </p:sp>
      <p:sp>
        <p:nvSpPr>
          <p:cNvPr id="5" name="BERT Panel"/>
          <p:cNvSpPr/>
          <p:nvPr/>
        </p:nvSpPr>
        <p:spPr>
          <a:xfrm>
            <a:off x="4434840" y="1783080"/>
            <a:ext cx="3154680" cy="4160520"/>
          </a:xfrm>
          <a:prstGeom prst="rect">
            <a:avLst/>
          </a:prstGeom>
          <a:solidFill>
            <a:srgbClr val="FFFFFF"/>
          </a:solidFill>
          <a:ln w="9525">
            <a:solidFill>
              <a:srgbClr val="C9D2DC"/>
            </a:solidFill>
          </a:ln>
        </p:spPr>
      </p:sp>
      <p:sp>
        <p:nvSpPr>
          <p:cNvPr id="6" name="BERT Panel Accent"/>
          <p:cNvSpPr/>
          <p:nvPr/>
        </p:nvSpPr>
        <p:spPr>
          <a:xfrm>
            <a:off x="4434840" y="1783080"/>
            <a:ext cx="3154680" cy="73152"/>
          </a:xfrm>
          <a:prstGeom prst="rect">
            <a:avLst/>
          </a:prstGeom>
          <a:solidFill>
            <a:srgbClr val="3F5F8A"/>
          </a:solidFill>
          <a:ln>
            <a:noFill/>
          </a:ln>
        </p:spPr>
      </p:sp>
      <p:sp>
        <p:nvSpPr>
          <p:cNvPr id="7" name="Quality Panel"/>
          <p:cNvSpPr/>
          <p:nvPr/>
        </p:nvSpPr>
        <p:spPr>
          <a:xfrm>
            <a:off x="7772400" y="1783080"/>
            <a:ext cx="3383280" cy="4160520"/>
          </a:xfrm>
          <a:prstGeom prst="rect">
            <a:avLst/>
          </a:prstGeom>
          <a:solidFill>
            <a:srgbClr val="FFFFFF"/>
          </a:solidFill>
          <a:ln w="9525">
            <a:solidFill>
              <a:srgbClr val="C9D2DC"/>
            </a:solidFill>
          </a:ln>
        </p:spPr>
      </p:sp>
      <p:sp>
        <p:nvSpPr>
          <p:cNvPr id="8" name="Quality Panel Accent"/>
          <p:cNvSpPr/>
          <p:nvPr/>
        </p:nvSpPr>
        <p:spPr>
          <a:xfrm>
            <a:off x="7772400" y="1783080"/>
            <a:ext cx="3383280" cy="73152"/>
          </a:xfrm>
          <a:prstGeom prst="rect">
            <a:avLst/>
          </a:prstGeom>
          <a:solidFill>
            <a:srgbClr val="7B8696"/>
          </a:solidFill>
          <a:ln>
            <a:noFill/>
          </a:ln>
        </p:spPr>
      </p:sp>
      <p:sp>
        <p:nvSpPr>
          <p:cNvPr id="9" name="Section Label"/>
          <p:cNvSpPr txBox="1"/>
          <p:nvPr/>
        </p:nvSpPr>
        <p:spPr>
          <a:xfrm>
            <a:off x="841248" y="566928"/>
            <a:ext cx="1371600" cy="164592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en-US" sz="1000" b="1" dirty="0" smtClean="0">
                <a:solidFill>
                  <a:srgbClr val="5E6B7A"/>
                </a:solidFill>
                <a:latin typeface="Calibri"/>
              </a:rPr>
              <a:t>EVALUATION</a:t>
            </a:r>
            <a:endParaRPr lang="en-US" sz="1000" dirty="0"/>
          </a:p>
        </p:txBody>
      </p:sp>
      <p:sp>
        <p:nvSpPr>
          <p:cNvPr id="10" name="Slide Title"/>
          <p:cNvSpPr txBox="1"/>
          <p:nvPr/>
        </p:nvSpPr>
        <p:spPr>
          <a:xfrm>
            <a:off x="777240" y="841248"/>
            <a:ext cx="10332720" cy="64008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en-US" sz="2600" b="1" dirty="0" smtClean="0">
                <a:solidFill>
                  <a:srgbClr val="1E2A36"/>
                </a:solidFill>
                <a:latin typeface="Cambria"/>
              </a:rPr>
              <a:t>Evaluation Metrics And Formulas</a:t>
            </a:r>
            <a:endParaRPr lang="en-US" sz="2600" dirty="0"/>
          </a:p>
        </p:txBody>
      </p:sp>
      <p:sp>
        <p:nvSpPr>
          <p:cNvPr id="11" name="ROUGE Panel Title"/>
          <p:cNvSpPr txBox="1"/>
          <p:nvPr/>
        </p:nvSpPr>
        <p:spPr>
          <a:xfrm>
            <a:off x="1005840" y="1947672"/>
            <a:ext cx="3063240" cy="32004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en-US" sz="1800" b="1" dirty="0" smtClean="0">
                <a:solidFill>
                  <a:srgbClr val="2B3A4A"/>
                </a:solidFill>
                <a:latin typeface="Calibri"/>
              </a:rPr>
              <a:t>ROUGE</a:t>
            </a:r>
            <a:endParaRPr lang="en-US" sz="1800" dirty="0"/>
          </a:p>
        </p:txBody>
      </p:sp>
      <p:sp>
        <p:nvSpPr>
          <p:cNvPr id="12" name="ROUGE Panel Body"/>
          <p:cNvSpPr txBox="1"/>
          <p:nvPr/>
        </p:nvSpPr>
        <p:spPr>
          <a:xfrm>
            <a:off x="1005840" y="2331720"/>
            <a:ext cx="3108960" cy="347472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en-US" sz="1600" dirty="0" smtClean="0">
                <a:solidFill>
                  <a:srgbClr val="1E2A36"/>
                </a:solidFill>
                <a:latin typeface="Calibri"/>
              </a:rPr>
              <a:t>ROUGE-N = overlap n-grams / total reference n-grams</a:t>
            </a:r>
            <a:endParaRPr lang="en-US" sz="1600" dirty="0"/>
          </a:p>
          <a:p>
            <a:pPr algn="l"/>
            <a:r>
              <a:rPr lang="en-US" sz="1600" dirty="0" smtClean="0">
                <a:solidFill>
                  <a:srgbClr val="1E2A36"/>
                </a:solidFill>
                <a:latin typeface="Calibri"/>
              </a:rPr>
              <a:t>ROUGE-1 -&gt; unigram coverage</a:t>
            </a:r>
            <a:endParaRPr lang="en-US" sz="1600" dirty="0"/>
          </a:p>
          <a:p>
            <a:pPr algn="l"/>
            <a:r>
              <a:rPr lang="en-US" sz="1600" dirty="0" smtClean="0">
                <a:solidFill>
                  <a:srgbClr val="1E2A36"/>
                </a:solidFill>
                <a:latin typeface="Calibri"/>
              </a:rPr>
              <a:t>ROUGE-2 -&gt; bigram or phrase-level fidelity</a:t>
            </a:r>
            <a:endParaRPr lang="en-US" sz="1600" dirty="0"/>
          </a:p>
          <a:p>
            <a:pPr algn="l"/>
            <a:r>
              <a:rPr lang="en-US" sz="1600" dirty="0" smtClean="0">
                <a:solidFill>
                  <a:srgbClr val="1E2A36"/>
                </a:solidFill>
                <a:latin typeface="Calibri"/>
              </a:rPr>
              <a:t>ROUGE-L -&gt; longest common subsequence similarity</a:t>
            </a:r>
            <a:endParaRPr lang="en-US" sz="1600" dirty="0"/>
          </a:p>
        </p:txBody>
      </p:sp>
      <p:sp>
        <p:nvSpPr>
          <p:cNvPr id="13" name="BERT Panel Title"/>
          <p:cNvSpPr txBox="1"/>
          <p:nvPr/>
        </p:nvSpPr>
        <p:spPr>
          <a:xfrm>
            <a:off x="4617720" y="1947672"/>
            <a:ext cx="2788920" cy="32004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en-US" sz="1800" b="1" dirty="0" smtClean="0">
                <a:solidFill>
                  <a:srgbClr val="2B3A4A"/>
                </a:solidFill>
                <a:latin typeface="Calibri"/>
              </a:rPr>
              <a:t>BERTScore</a:t>
            </a:r>
            <a:endParaRPr lang="en-US" sz="1800" dirty="0"/>
          </a:p>
        </p:txBody>
      </p:sp>
      <p:sp>
        <p:nvSpPr>
          <p:cNvPr id="14" name="BERT Panel Body"/>
          <p:cNvSpPr txBox="1"/>
          <p:nvPr/>
        </p:nvSpPr>
        <p:spPr>
          <a:xfrm>
            <a:off x="4617720" y="2331720"/>
            <a:ext cx="2834640" cy="347472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en-US" sz="1600" dirty="0" smtClean="0">
                <a:solidFill>
                  <a:srgbClr val="1E2A36"/>
                </a:solidFill>
                <a:latin typeface="Calibri"/>
              </a:rPr>
              <a:t>Precision = semantic support of generated text</a:t>
            </a:r>
            <a:endParaRPr lang="en-US" sz="1600" dirty="0"/>
          </a:p>
          <a:p>
            <a:pPr algn="l"/>
            <a:r>
              <a:rPr lang="en-US" sz="1600" dirty="0" smtClean="0">
                <a:solidFill>
                  <a:srgbClr val="1E2A36"/>
                </a:solidFill>
                <a:latin typeface="Calibri"/>
              </a:rPr>
              <a:t>Recall = semantic coverage of the reference</a:t>
            </a:r>
            <a:endParaRPr lang="en-US" sz="1600" dirty="0"/>
          </a:p>
          <a:p>
            <a:pPr algn="l"/>
            <a:r>
              <a:rPr lang="en-US" sz="1600" dirty="0" smtClean="0">
                <a:solidFill>
                  <a:srgbClr val="1E2A36"/>
                </a:solidFill>
                <a:latin typeface="Calibri"/>
              </a:rPr>
              <a:t>F1 = 2PR / (P + R)</a:t>
            </a:r>
            <a:endParaRPr lang="en-US" sz="1600" dirty="0"/>
          </a:p>
          <a:p>
            <a:pPr algn="l"/>
            <a:r>
              <a:rPr lang="en-US" sz="1600" dirty="0" smtClean="0">
                <a:solidFill>
                  <a:srgbClr val="1E2A36"/>
                </a:solidFill>
                <a:latin typeface="Calibri"/>
              </a:rPr>
              <a:t>useful when summaries paraphrase instead of copying wording</a:t>
            </a:r>
            <a:endParaRPr lang="en-US" sz="1600" dirty="0"/>
          </a:p>
        </p:txBody>
      </p:sp>
      <p:sp>
        <p:nvSpPr>
          <p:cNvPr id="15" name="Quality Panel Title"/>
          <p:cNvSpPr txBox="1"/>
          <p:nvPr/>
        </p:nvSpPr>
        <p:spPr>
          <a:xfrm>
            <a:off x="7955279" y="1947672"/>
            <a:ext cx="3017520" cy="32004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en-US" sz="1800" b="1" dirty="0" smtClean="0">
                <a:solidFill>
                  <a:srgbClr val="2B3A4A"/>
                </a:solidFill>
                <a:latin typeface="Calibri"/>
              </a:rPr>
              <a:t>Interpretation</a:t>
            </a:r>
            <a:endParaRPr lang="en-US" sz="1800" dirty="0"/>
          </a:p>
        </p:txBody>
      </p:sp>
      <p:sp>
        <p:nvSpPr>
          <p:cNvPr id="16" name="Quality Panel Body"/>
          <p:cNvSpPr txBox="1"/>
          <p:nvPr/>
        </p:nvSpPr>
        <p:spPr>
          <a:xfrm>
            <a:off x="7955279" y="2331720"/>
            <a:ext cx="3063240" cy="347472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en-US" sz="1600" dirty="0" smtClean="0">
                <a:solidFill>
                  <a:srgbClr val="1E2A36"/>
                </a:solidFill>
                <a:latin typeface="Calibri"/>
              </a:rPr>
              <a:t>ROUGE answers: did we cover the right content words and phrases?</a:t>
            </a:r>
            <a:endParaRPr lang="en-US" sz="1600" dirty="0"/>
          </a:p>
          <a:p>
            <a:pPr algn="l"/>
            <a:r>
              <a:rPr lang="en-US" sz="1600" dirty="0" smtClean="0">
                <a:solidFill>
                  <a:srgbClr val="1E2A36"/>
                </a:solidFill>
                <a:latin typeface="Calibri"/>
              </a:rPr>
              <a:t>BERTScore answers: did we preserve the meaning?</a:t>
            </a:r>
            <a:endParaRPr lang="en-US" sz="1600" dirty="0"/>
          </a:p>
          <a:p>
            <a:pPr algn="l"/>
            <a:r>
              <a:rPr lang="en-US" sz="1600" dirty="0" smtClean="0">
                <a:solidFill>
                  <a:srgbClr val="1E2A36"/>
                </a:solidFill>
                <a:latin typeface="Calibri"/>
              </a:rPr>
              <a:t>Together they provide lexical and semantic evaluation.</a:t>
            </a:r>
            <a:endParaRPr lang="en-US" sz="1600" dirty="0"/>
          </a:p>
        </p:txBody>
      </p:sp>
      <p:sp>
        <p:nvSpPr>
          <p:cNvPr id="17" name="Footer Left 7"/>
          <p:cNvSpPr txBox="1"/>
          <p:nvPr/>
        </p:nvSpPr>
        <p:spPr>
          <a:xfrm>
            <a:off x="685800" y="6400800"/>
            <a:ext cx="2926080" cy="2286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en-US" sz="1000" dirty="0" smtClean="0">
                <a:solidFill>
                  <a:srgbClr val="5E6B7A"/>
                </a:solidFill>
                <a:latin typeface="Calibri"/>
              </a:rPr>
              <a:t>Legal Argument-Aware Summarization MVP</a:t>
            </a:r>
            <a:endParaRPr lang="en-US" sz="1000" dirty="0"/>
          </a:p>
        </p:txBody>
      </p:sp>
      <p:sp>
        <p:nvSpPr>
          <p:cNvPr id="18" name="Footer Right 7"/>
          <p:cNvSpPr txBox="1"/>
          <p:nvPr/>
        </p:nvSpPr>
        <p:spPr>
          <a:xfrm>
            <a:off x="10561320" y="635508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r"/>
            <a:r>
              <a:rPr lang="en-US" sz="1200" b="1" dirty="0" smtClean="0">
                <a:solidFill>
                  <a:srgbClr val="7B8696"/>
                </a:solidFill>
                <a:latin typeface="Calibri"/>
              </a:rPr>
              <a:t>07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Accent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3F5F8A"/>
          </a:solidFill>
          <a:ln>
            <a:noFill/>
          </a:ln>
        </p:spPr>
      </p:sp>
      <p:sp>
        <p:nvSpPr>
          <p:cNvPr id="3" name="Example Input Panel"/>
          <p:cNvSpPr/>
          <p:nvPr/>
        </p:nvSpPr>
        <p:spPr>
          <a:xfrm>
            <a:off x="822960" y="1783080"/>
            <a:ext cx="3429000" cy="4160520"/>
          </a:xfrm>
          <a:prstGeom prst="rect">
            <a:avLst/>
          </a:prstGeom>
          <a:solidFill>
            <a:srgbClr val="FFFFFF"/>
          </a:solidFill>
          <a:ln w="9525">
            <a:solidFill>
              <a:srgbClr val="C9D2DC"/>
            </a:solidFill>
          </a:ln>
        </p:spPr>
      </p:sp>
      <p:sp>
        <p:nvSpPr>
          <p:cNvPr id="4" name="Example Input Panel Accent"/>
          <p:cNvSpPr/>
          <p:nvPr/>
        </p:nvSpPr>
        <p:spPr>
          <a:xfrm>
            <a:off x="822960" y="1783080"/>
            <a:ext cx="3429000" cy="73152"/>
          </a:xfrm>
          <a:prstGeom prst="rect">
            <a:avLst/>
          </a:prstGeom>
          <a:solidFill>
            <a:srgbClr val="7B8696"/>
          </a:solidFill>
          <a:ln>
            <a:noFill/>
          </a:ln>
        </p:spPr>
      </p:sp>
      <p:sp>
        <p:nvSpPr>
          <p:cNvPr id="5" name="Example Flow Panel"/>
          <p:cNvSpPr/>
          <p:nvPr/>
        </p:nvSpPr>
        <p:spPr>
          <a:xfrm>
            <a:off x="4434840" y="1783080"/>
            <a:ext cx="3154680" cy="4160520"/>
          </a:xfrm>
          <a:prstGeom prst="rect">
            <a:avLst/>
          </a:prstGeom>
          <a:solidFill>
            <a:srgbClr val="FFFFFF"/>
          </a:solidFill>
          <a:ln w="9525">
            <a:solidFill>
              <a:srgbClr val="C9D2DC"/>
            </a:solidFill>
          </a:ln>
        </p:spPr>
      </p:sp>
      <p:sp>
        <p:nvSpPr>
          <p:cNvPr id="6" name="Example Flow Panel Accent"/>
          <p:cNvSpPr/>
          <p:nvPr/>
        </p:nvSpPr>
        <p:spPr>
          <a:xfrm>
            <a:off x="4434840" y="1783080"/>
            <a:ext cx="3154680" cy="73152"/>
          </a:xfrm>
          <a:prstGeom prst="rect">
            <a:avLst/>
          </a:prstGeom>
          <a:solidFill>
            <a:srgbClr val="3F5F8A"/>
          </a:solidFill>
          <a:ln>
            <a:noFill/>
          </a:ln>
        </p:spPr>
      </p:sp>
      <p:sp>
        <p:nvSpPr>
          <p:cNvPr id="7" name="Example Output Panel"/>
          <p:cNvSpPr/>
          <p:nvPr/>
        </p:nvSpPr>
        <p:spPr>
          <a:xfrm>
            <a:off x="7772400" y="1783080"/>
            <a:ext cx="3383280" cy="4160520"/>
          </a:xfrm>
          <a:prstGeom prst="rect">
            <a:avLst/>
          </a:prstGeom>
          <a:solidFill>
            <a:srgbClr val="FFFFFF"/>
          </a:solidFill>
          <a:ln w="9525">
            <a:solidFill>
              <a:srgbClr val="C9D2DC"/>
            </a:solidFill>
          </a:ln>
        </p:spPr>
      </p:sp>
      <p:sp>
        <p:nvSpPr>
          <p:cNvPr id="8" name="Example Output Panel Accent"/>
          <p:cNvSpPr/>
          <p:nvPr/>
        </p:nvSpPr>
        <p:spPr>
          <a:xfrm>
            <a:off x="7772400" y="1783080"/>
            <a:ext cx="3383280" cy="73152"/>
          </a:xfrm>
          <a:prstGeom prst="rect">
            <a:avLst/>
          </a:prstGeom>
          <a:solidFill>
            <a:srgbClr val="7B8696"/>
          </a:solidFill>
          <a:ln>
            <a:noFill/>
          </a:ln>
        </p:spPr>
      </p:sp>
      <p:sp>
        <p:nvSpPr>
          <p:cNvPr id="9" name="Section Label"/>
          <p:cNvSpPr txBox="1"/>
          <p:nvPr/>
        </p:nvSpPr>
        <p:spPr>
          <a:xfrm>
            <a:off x="841248" y="566928"/>
            <a:ext cx="1371600" cy="164592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en-US" sz="1000" b="1" dirty="0" smtClean="0">
                <a:solidFill>
                  <a:srgbClr val="5E6B7A"/>
                </a:solidFill>
                <a:latin typeface="Calibri"/>
              </a:rPr>
              <a:t>EXAMPLE</a:t>
            </a:r>
            <a:endParaRPr lang="en-US" sz="1000" dirty="0"/>
          </a:p>
        </p:txBody>
      </p:sp>
      <p:sp>
        <p:nvSpPr>
          <p:cNvPr id="10" name="Slide Title"/>
          <p:cNvSpPr txBox="1"/>
          <p:nvPr/>
        </p:nvSpPr>
        <p:spPr>
          <a:xfrm>
            <a:off x="777240" y="841248"/>
            <a:ext cx="10332720" cy="64008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en-US" sz="2600" b="1" dirty="0" smtClean="0">
                <a:solidFill>
                  <a:srgbClr val="1E2A36"/>
                </a:solidFill>
                <a:latin typeface="Cambria"/>
              </a:rPr>
              <a:t>Example Case Flow</a:t>
            </a:r>
            <a:endParaRPr lang="en-US" sz="2600" dirty="0"/>
          </a:p>
        </p:txBody>
      </p:sp>
      <p:sp>
        <p:nvSpPr>
          <p:cNvPr id="11" name="Example Input Panel Title"/>
          <p:cNvSpPr txBox="1"/>
          <p:nvPr/>
        </p:nvSpPr>
        <p:spPr>
          <a:xfrm>
            <a:off x="1005840" y="1947672"/>
            <a:ext cx="3063240" cy="32004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en-US" sz="1800" b="1" dirty="0" smtClean="0">
                <a:solidFill>
                  <a:srgbClr val="2B3A4A"/>
                </a:solidFill>
                <a:latin typeface="Calibri"/>
              </a:rPr>
              <a:t>Input text</a:t>
            </a:r>
            <a:endParaRPr lang="en-US" sz="1800" dirty="0"/>
          </a:p>
        </p:txBody>
      </p:sp>
      <p:sp>
        <p:nvSpPr>
          <p:cNvPr id="12" name="Example Input Panel Body"/>
          <p:cNvSpPr txBox="1"/>
          <p:nvPr/>
        </p:nvSpPr>
        <p:spPr>
          <a:xfrm>
            <a:off x="1005840" y="2331720"/>
            <a:ext cx="3108960" cy="347472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en-US" sz="1600" dirty="0" smtClean="0">
                <a:solidFill>
                  <a:srgbClr val="1E2A36"/>
                </a:solidFill>
                <a:latin typeface="Calibri"/>
              </a:rPr>
              <a:t>Facts: allotment cancelled after flood delay.</a:t>
            </a:r>
            <a:endParaRPr lang="en-US" sz="1600" dirty="0"/>
          </a:p>
          <a:p>
            <a:pPr algn="l"/>
            <a:r>
              <a:rPr lang="en-US" sz="1600" dirty="0" smtClean="0">
                <a:solidFill>
                  <a:srgbClr val="1E2A36"/>
                </a:solidFill>
                <a:latin typeface="Calibri"/>
              </a:rPr>
              <a:t>Issue: whether cancellation without notice was valid.</a:t>
            </a:r>
            <a:endParaRPr lang="en-US" sz="1600" dirty="0"/>
          </a:p>
          <a:p>
            <a:pPr algn="l"/>
            <a:r>
              <a:rPr lang="en-US" sz="1600" dirty="0" smtClean="0">
                <a:solidFill>
                  <a:srgbClr val="1E2A36"/>
                </a:solidFill>
                <a:latin typeface="Calibri"/>
              </a:rPr>
              <a:t>Arguments: natural justice vs conditional allotment.</a:t>
            </a:r>
            <a:endParaRPr lang="en-US" sz="1600" dirty="0"/>
          </a:p>
          <a:p>
            <a:pPr algn="l"/>
            <a:r>
              <a:rPr lang="en-US" sz="1600" dirty="0" smtClean="0">
                <a:solidFill>
                  <a:srgbClr val="1E2A36"/>
                </a:solidFill>
                <a:latin typeface="Calibri"/>
              </a:rPr>
              <a:t>Analysis: fair procedure required.</a:t>
            </a:r>
            <a:endParaRPr lang="en-US" sz="1600" dirty="0"/>
          </a:p>
          <a:p>
            <a:pPr algn="l"/>
            <a:r>
              <a:rPr lang="en-US" sz="1600" dirty="0" smtClean="0">
                <a:solidFill>
                  <a:srgbClr val="1E2A36"/>
                </a:solidFill>
                <a:latin typeface="Calibri"/>
              </a:rPr>
              <a:t>Ruling: cancellation set aside and matter remanded.</a:t>
            </a:r>
            <a:endParaRPr lang="en-US" sz="1600" dirty="0"/>
          </a:p>
        </p:txBody>
      </p:sp>
      <p:sp>
        <p:nvSpPr>
          <p:cNvPr id="13" name="Example Flow Panel Title"/>
          <p:cNvSpPr txBox="1"/>
          <p:nvPr/>
        </p:nvSpPr>
        <p:spPr>
          <a:xfrm>
            <a:off x="4617720" y="1947672"/>
            <a:ext cx="2788920" cy="32004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en-US" sz="1800" b="1" dirty="0" smtClean="0">
                <a:solidFill>
                  <a:srgbClr val="2B3A4A"/>
                </a:solidFill>
                <a:latin typeface="Calibri"/>
              </a:rPr>
              <a:t>Pipeline result</a:t>
            </a:r>
            <a:endParaRPr lang="en-US" sz="1800" dirty="0"/>
          </a:p>
        </p:txBody>
      </p:sp>
      <p:sp>
        <p:nvSpPr>
          <p:cNvPr id="14" name="Example Flow Panel Body"/>
          <p:cNvSpPr txBox="1"/>
          <p:nvPr/>
        </p:nvSpPr>
        <p:spPr>
          <a:xfrm>
            <a:off x="4617720" y="2331720"/>
            <a:ext cx="2834640" cy="347472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en-US" sz="1600" dirty="0" smtClean="0">
                <a:solidFill>
                  <a:srgbClr val="1E2A36"/>
                </a:solidFill>
                <a:latin typeface="Calibri"/>
              </a:rPr>
              <a:t>facts -&gt; issue -&gt; arguments -&gt; analysis -&gt; ruling</a:t>
            </a:r>
            <a:endParaRPr lang="en-US" sz="1600" dirty="0"/>
          </a:p>
          <a:p>
            <a:pPr algn="l"/>
            <a:r>
              <a:rPr lang="en-US" sz="1600" dirty="0" smtClean="0">
                <a:solidFill>
                  <a:srgbClr val="1E2A36"/>
                </a:solidFill>
                <a:latin typeface="Calibri"/>
              </a:rPr>
              <a:t>candidate summaries generated</a:t>
            </a:r>
            <a:endParaRPr lang="en-US" sz="1600" dirty="0"/>
          </a:p>
          <a:p>
            <a:pPr algn="l"/>
            <a:r>
              <a:rPr lang="en-US" sz="1600" dirty="0" smtClean="0">
                <a:solidFill>
                  <a:srgbClr val="1E2A36"/>
                </a:solidFill>
                <a:latin typeface="Calibri"/>
              </a:rPr>
              <a:t>best candidate selected after reranking</a:t>
            </a:r>
            <a:endParaRPr lang="en-US" sz="1600" dirty="0"/>
          </a:p>
          <a:p>
            <a:pPr algn="l"/>
            <a:r>
              <a:rPr lang="en-US" sz="1600" dirty="0" smtClean="0">
                <a:solidFill>
                  <a:srgbClr val="1E2A36"/>
                </a:solidFill>
                <a:latin typeface="Calibri"/>
              </a:rPr>
              <a:t>supporting segments returned for explainability</a:t>
            </a:r>
            <a:endParaRPr lang="en-US" sz="1600" dirty="0"/>
          </a:p>
        </p:txBody>
      </p:sp>
      <p:sp>
        <p:nvSpPr>
          <p:cNvPr id="15" name="Example Output Panel Title"/>
          <p:cNvSpPr txBox="1"/>
          <p:nvPr/>
        </p:nvSpPr>
        <p:spPr>
          <a:xfrm>
            <a:off x="7955279" y="1947672"/>
            <a:ext cx="3017520" cy="32004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en-US" sz="1800" b="1" dirty="0" smtClean="0">
                <a:solidFill>
                  <a:srgbClr val="2B3A4A"/>
                </a:solidFill>
                <a:latin typeface="Calibri"/>
              </a:rPr>
              <a:t>Final summary</a:t>
            </a:r>
            <a:endParaRPr lang="en-US" sz="1800" dirty="0"/>
          </a:p>
        </p:txBody>
      </p:sp>
      <p:sp>
        <p:nvSpPr>
          <p:cNvPr id="16" name="Example Output Panel Body"/>
          <p:cNvSpPr txBox="1"/>
          <p:nvPr/>
        </p:nvSpPr>
        <p:spPr>
          <a:xfrm>
            <a:off x="7955279" y="2331720"/>
            <a:ext cx="3063240" cy="347472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en-US" sz="1600" dirty="0" smtClean="0">
                <a:solidFill>
                  <a:srgbClr val="1E2A36"/>
                </a:solidFill>
                <a:latin typeface="Calibri"/>
              </a:rPr>
              <a:t>The petitioner challenged cancellation of an allotment after flood-related delay.</a:t>
            </a:r>
            <a:endParaRPr lang="en-US" sz="1600" dirty="0"/>
          </a:p>
          <a:p>
            <a:pPr algn="l"/>
            <a:r>
              <a:rPr lang="en-US" sz="1600" dirty="0" smtClean="0">
                <a:solidFill>
                  <a:srgbClr val="1E2A36"/>
                </a:solidFill>
                <a:latin typeface="Calibri"/>
              </a:rPr>
              <a:t>The issue was whether the authority could act without notice.</a:t>
            </a:r>
            <a:endParaRPr lang="en-US" sz="1600" dirty="0"/>
          </a:p>
          <a:p>
            <a:pPr algn="l"/>
            <a:r>
              <a:rPr lang="en-US" sz="1600" dirty="0" smtClean="0">
                <a:solidFill>
                  <a:srgbClr val="1E2A36"/>
                </a:solidFill>
                <a:latin typeface="Calibri"/>
              </a:rPr>
              <a:t>The court held that fair procedure was required and remanded the matter.</a:t>
            </a:r>
            <a:endParaRPr lang="en-US" sz="1600" dirty="0"/>
          </a:p>
        </p:txBody>
      </p:sp>
      <p:sp>
        <p:nvSpPr>
          <p:cNvPr id="17" name="Footer Left 8"/>
          <p:cNvSpPr txBox="1"/>
          <p:nvPr/>
        </p:nvSpPr>
        <p:spPr>
          <a:xfrm>
            <a:off x="685800" y="6400800"/>
            <a:ext cx="2926080" cy="2286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en-US" sz="1000" dirty="0" smtClean="0">
                <a:solidFill>
                  <a:srgbClr val="5E6B7A"/>
                </a:solidFill>
                <a:latin typeface="Calibri"/>
              </a:rPr>
              <a:t>Legal Argument-Aware Summarization MVP</a:t>
            </a:r>
            <a:endParaRPr lang="en-US" sz="1000" dirty="0"/>
          </a:p>
        </p:txBody>
      </p:sp>
      <p:sp>
        <p:nvSpPr>
          <p:cNvPr id="18" name="Footer Right 8"/>
          <p:cNvSpPr txBox="1"/>
          <p:nvPr/>
        </p:nvSpPr>
        <p:spPr>
          <a:xfrm>
            <a:off x="10561320" y="635508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r"/>
            <a:r>
              <a:rPr lang="en-US" sz="1200" b="1" dirty="0" smtClean="0">
                <a:solidFill>
                  <a:srgbClr val="7B8696"/>
                </a:solidFill>
                <a:latin typeface="Calibri"/>
              </a:rPr>
              <a:t>08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Accent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3F5F8A"/>
          </a:solidFill>
          <a:ln>
            <a:noFill/>
          </a:ln>
        </p:spPr>
      </p:sp>
      <p:sp>
        <p:nvSpPr>
          <p:cNvPr id="3" name="Conclusion Left"/>
          <p:cNvSpPr/>
          <p:nvPr/>
        </p:nvSpPr>
        <p:spPr>
          <a:xfrm>
            <a:off x="822960" y="1783080"/>
            <a:ext cx="4983480" cy="4160520"/>
          </a:xfrm>
          <a:prstGeom prst="rect">
            <a:avLst/>
          </a:prstGeom>
          <a:solidFill>
            <a:srgbClr val="FFFFFF"/>
          </a:solidFill>
          <a:ln w="9525">
            <a:solidFill>
              <a:srgbClr val="C9D2DC"/>
            </a:solidFill>
          </a:ln>
        </p:spPr>
      </p:sp>
      <p:sp>
        <p:nvSpPr>
          <p:cNvPr id="4" name="Conclusion Left Accent"/>
          <p:cNvSpPr/>
          <p:nvPr/>
        </p:nvSpPr>
        <p:spPr>
          <a:xfrm>
            <a:off x="822960" y="1783080"/>
            <a:ext cx="4983480" cy="73152"/>
          </a:xfrm>
          <a:prstGeom prst="rect">
            <a:avLst/>
          </a:prstGeom>
          <a:solidFill>
            <a:srgbClr val="7B8696"/>
          </a:solidFill>
          <a:ln>
            <a:noFill/>
          </a:ln>
        </p:spPr>
      </p:sp>
      <p:sp>
        <p:nvSpPr>
          <p:cNvPr id="5" name="Conclusion Right"/>
          <p:cNvSpPr/>
          <p:nvPr/>
        </p:nvSpPr>
        <p:spPr>
          <a:xfrm>
            <a:off x="6080760" y="1783080"/>
            <a:ext cx="5074920" cy="4160520"/>
          </a:xfrm>
          <a:prstGeom prst="rect">
            <a:avLst/>
          </a:prstGeom>
          <a:solidFill>
            <a:srgbClr val="FFFFFF"/>
          </a:solidFill>
          <a:ln w="9525">
            <a:solidFill>
              <a:srgbClr val="C9D2DC"/>
            </a:solidFill>
          </a:ln>
        </p:spPr>
      </p:sp>
      <p:sp>
        <p:nvSpPr>
          <p:cNvPr id="6" name="Conclusion Right Accent"/>
          <p:cNvSpPr/>
          <p:nvPr/>
        </p:nvSpPr>
        <p:spPr>
          <a:xfrm>
            <a:off x="6080760" y="1783080"/>
            <a:ext cx="5074920" cy="73152"/>
          </a:xfrm>
          <a:prstGeom prst="rect">
            <a:avLst/>
          </a:prstGeom>
          <a:solidFill>
            <a:srgbClr val="3F5F8A"/>
          </a:solidFill>
          <a:ln>
            <a:noFill/>
          </a:ln>
        </p:spPr>
      </p:sp>
      <p:sp>
        <p:nvSpPr>
          <p:cNvPr id="7" name="Section Label"/>
          <p:cNvSpPr txBox="1"/>
          <p:nvPr/>
        </p:nvSpPr>
        <p:spPr>
          <a:xfrm>
            <a:off x="841248" y="566928"/>
            <a:ext cx="1371600" cy="164592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en-US" sz="1000" b="1" dirty="0" smtClean="0">
                <a:solidFill>
                  <a:srgbClr val="5E6B7A"/>
                </a:solidFill>
                <a:latin typeface="Calibri"/>
              </a:rPr>
              <a:t>CONCLUSION</a:t>
            </a:r>
            <a:endParaRPr lang="en-US" sz="1000" dirty="0"/>
          </a:p>
        </p:txBody>
      </p:sp>
      <p:sp>
        <p:nvSpPr>
          <p:cNvPr id="8" name="Slide Title"/>
          <p:cNvSpPr txBox="1"/>
          <p:nvPr/>
        </p:nvSpPr>
        <p:spPr>
          <a:xfrm>
            <a:off x="777240" y="841248"/>
            <a:ext cx="10332720" cy="64008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en-US" sz="2600" b="1" dirty="0" smtClean="0">
                <a:solidFill>
                  <a:srgbClr val="1E2A36"/>
                </a:solidFill>
                <a:latin typeface="Cambria"/>
              </a:rPr>
              <a:t>Conclusion</a:t>
            </a:r>
            <a:endParaRPr lang="en-US" sz="2600" dirty="0"/>
          </a:p>
        </p:txBody>
      </p:sp>
      <p:sp>
        <p:nvSpPr>
          <p:cNvPr id="9" name="Conclusion Left Title"/>
          <p:cNvSpPr txBox="1"/>
          <p:nvPr/>
        </p:nvSpPr>
        <p:spPr>
          <a:xfrm>
            <a:off x="1005840" y="1947672"/>
            <a:ext cx="4617720" cy="32004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en-US" sz="1800" b="1" dirty="0" smtClean="0">
                <a:solidFill>
                  <a:srgbClr val="2B3A4A"/>
                </a:solidFill>
                <a:latin typeface="Calibri"/>
              </a:rPr>
              <a:t>Key takeaway</a:t>
            </a:r>
            <a:endParaRPr lang="en-US" sz="1800" dirty="0"/>
          </a:p>
        </p:txBody>
      </p:sp>
      <p:sp>
        <p:nvSpPr>
          <p:cNvPr id="10" name="Conclusion Left Body"/>
          <p:cNvSpPr txBox="1"/>
          <p:nvPr/>
        </p:nvSpPr>
        <p:spPr>
          <a:xfrm>
            <a:off x="1005840" y="2331720"/>
            <a:ext cx="4663440" cy="347472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en-US" sz="1600" dirty="0" smtClean="0">
                <a:solidFill>
                  <a:srgbClr val="1E2A36"/>
                </a:solidFill>
                <a:latin typeface="Calibri"/>
              </a:rPr>
              <a:t>This project improves legal summarization by combining:</a:t>
            </a:r>
            <a:endParaRPr lang="en-US" sz="1600" dirty="0"/>
          </a:p>
          <a:p>
            <a:pPr algn="l"/>
            <a:r>
              <a:rPr lang="en-US" sz="1600" dirty="0" smtClean="0">
                <a:solidFill>
                  <a:srgbClr val="1E2A36"/>
                </a:solidFill>
                <a:latin typeface="Calibri"/>
              </a:rPr>
              <a:t>- long-document preprocessing</a:t>
            </a:r>
            <a:endParaRPr lang="en-US" sz="1600" dirty="0"/>
          </a:p>
          <a:p>
            <a:pPr algn="l"/>
            <a:r>
              <a:rPr lang="en-US" sz="1600" dirty="0" smtClean="0">
                <a:solidFill>
                  <a:srgbClr val="1E2A36"/>
                </a:solidFill>
                <a:latin typeface="Calibri"/>
              </a:rPr>
              <a:t>- rhetorical-role understanding</a:t>
            </a:r>
            <a:endParaRPr lang="en-US" sz="1600" dirty="0"/>
          </a:p>
          <a:p>
            <a:pPr algn="l"/>
            <a:r>
              <a:rPr lang="en-US" sz="1600" dirty="0" smtClean="0">
                <a:solidFill>
                  <a:srgbClr val="1E2A36"/>
                </a:solidFill>
                <a:latin typeface="Calibri"/>
              </a:rPr>
              <a:t>- multi-candidate abstractive generation</a:t>
            </a:r>
            <a:endParaRPr lang="en-US" sz="1600" dirty="0"/>
          </a:p>
          <a:p>
            <a:pPr algn="l"/>
            <a:r>
              <a:rPr lang="en-US" sz="1600" dirty="0" smtClean="0">
                <a:solidFill>
                  <a:srgbClr val="1E2A36"/>
                </a:solidFill>
                <a:latin typeface="Calibri"/>
              </a:rPr>
              <a:t>- argument-aware reranking</a:t>
            </a:r>
            <a:endParaRPr lang="en-US" sz="1600" dirty="0"/>
          </a:p>
          <a:p>
            <a:pPr algn="l"/>
            <a:r>
              <a:rPr lang="en-US" sz="1600" dirty="0" smtClean="0">
                <a:solidFill>
                  <a:srgbClr val="1E2A36"/>
                </a:solidFill>
                <a:latin typeface="Calibri"/>
              </a:rPr>
              <a:t>- evaluation and explainability</a:t>
            </a:r>
            <a:endParaRPr lang="en-US" sz="1600" dirty="0"/>
          </a:p>
        </p:txBody>
      </p:sp>
      <p:sp>
        <p:nvSpPr>
          <p:cNvPr id="11" name="Conclusion Right Title"/>
          <p:cNvSpPr txBox="1"/>
          <p:nvPr/>
        </p:nvSpPr>
        <p:spPr>
          <a:xfrm>
            <a:off x="6263640" y="1947672"/>
            <a:ext cx="4709159" cy="32004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en-US" sz="1800" b="1" dirty="0" smtClean="0">
                <a:solidFill>
                  <a:srgbClr val="2B3A4A"/>
                </a:solidFill>
                <a:latin typeface="Calibri"/>
              </a:rPr>
              <a:t>Limitations and next step</a:t>
            </a:r>
            <a:endParaRPr lang="en-US" sz="1800" dirty="0"/>
          </a:p>
        </p:txBody>
      </p:sp>
      <p:sp>
        <p:nvSpPr>
          <p:cNvPr id="12" name="Conclusion Right Body"/>
          <p:cNvSpPr txBox="1"/>
          <p:nvPr/>
        </p:nvSpPr>
        <p:spPr>
          <a:xfrm>
            <a:off x="6263640" y="2331720"/>
            <a:ext cx="4754880" cy="347472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en-US" sz="1600" dirty="0" smtClean="0">
                <a:solidFill>
                  <a:srgbClr val="1E2A36"/>
                </a:solidFill>
                <a:latin typeface="Calibri"/>
              </a:rPr>
              <a:t>- not an exact paper reproduction</a:t>
            </a:r>
            <a:endParaRPr lang="en-US" sz="1600" dirty="0"/>
          </a:p>
          <a:p>
            <a:pPr algn="l"/>
            <a:r>
              <a:rPr lang="en-US" sz="1600" dirty="0" smtClean="0">
                <a:solidFill>
                  <a:srgbClr val="1E2A36"/>
                </a:solidFill>
                <a:latin typeface="Calibri"/>
              </a:rPr>
              <a:t>- CPU inference can be slow for long models</a:t>
            </a:r>
            <a:endParaRPr lang="en-US" sz="1600" dirty="0"/>
          </a:p>
          <a:p>
            <a:pPr algn="l"/>
            <a:r>
              <a:rPr lang="en-US" sz="1600" dirty="0" smtClean="0">
                <a:solidFill>
                  <a:srgbClr val="1E2A36"/>
                </a:solidFill>
                <a:latin typeface="Calibri"/>
              </a:rPr>
              <a:t>- no bundled custom fine-tuned checkpoint</a:t>
            </a:r>
            <a:endParaRPr lang="en-US" sz="1600" dirty="0"/>
          </a:p>
          <a:p>
            <a:pPr algn="l"/>
            <a:r>
              <a:rPr lang="en-US" sz="1600" dirty="0" smtClean="0">
                <a:solidFill>
                  <a:srgbClr val="1E2A36"/>
                </a:solidFill>
                <a:latin typeface="Calibri"/>
              </a:rPr>
              <a:t>- strongest next step: train a dedicated rhetorical-role classifier and benchmark on larger legal datasets</a:t>
            </a:r>
            <a:endParaRPr lang="en-US" sz="1600" dirty="0"/>
          </a:p>
        </p:txBody>
      </p:sp>
      <p:sp>
        <p:nvSpPr>
          <p:cNvPr id="13" name="Conclusion Statement"/>
          <p:cNvSpPr txBox="1"/>
          <p:nvPr/>
        </p:nvSpPr>
        <p:spPr>
          <a:xfrm>
            <a:off x="914400" y="5532120"/>
            <a:ext cx="9875520" cy="36576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c"/>
            <a:r>
              <a:rPr lang="en-US" sz="1800" b="1" dirty="0" smtClean="0">
                <a:solidFill>
                  <a:srgbClr val="7B8696"/>
                </a:solidFill>
                <a:latin typeface="Calibri"/>
              </a:rPr>
              <a:t>In one line: the system reads a long legal opinion, understands its structure, generates several summaries, and selects the best one using argument-aware scoring.</a:t>
            </a:r>
            <a:endParaRPr lang="en-US" sz="1800" dirty="0"/>
          </a:p>
        </p:txBody>
      </p:sp>
      <p:sp>
        <p:nvSpPr>
          <p:cNvPr id="14" name="Footer Left 9"/>
          <p:cNvSpPr txBox="1"/>
          <p:nvPr/>
        </p:nvSpPr>
        <p:spPr>
          <a:xfrm>
            <a:off x="685800" y="6400800"/>
            <a:ext cx="2926080" cy="2286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en-US" sz="1000" dirty="0" smtClean="0">
                <a:solidFill>
                  <a:srgbClr val="5E6B7A"/>
                </a:solidFill>
                <a:latin typeface="Calibri"/>
              </a:rPr>
              <a:t>Legal Argument-Aware Summarization MVP</a:t>
            </a:r>
            <a:endParaRPr lang="en-US" sz="1000" dirty="0"/>
          </a:p>
        </p:txBody>
      </p:sp>
      <p:sp>
        <p:nvSpPr>
          <p:cNvPr id="15" name="Footer Right 9"/>
          <p:cNvSpPr txBox="1"/>
          <p:nvPr/>
        </p:nvSpPr>
        <p:spPr>
          <a:xfrm>
            <a:off x="10561320" y="635508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r"/>
            <a:r>
              <a:rPr lang="en-US" sz="1200" b="1" dirty="0" smtClean="0">
                <a:solidFill>
                  <a:srgbClr val="7B8696"/>
                </a:solidFill>
                <a:latin typeface="Calibri"/>
              </a:rPr>
              <a:t>09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ounsel Desk">
  <a:themeElements>
    <a:clrScheme name="Counsel Desk">
      <a:dk1>
        <a:srgbClr val="0B1320"/>
      </a:dk1>
      <a:lt1>
        <a:srgbClr val="FFFFFF"/>
      </a:lt1>
      <a:dk2>
        <a:srgbClr val="1F2D3D"/>
      </a:dk2>
      <a:lt2>
        <a:srgbClr val="EAF1F8"/>
      </a:lt2>
      <a:accent1>
        <a:srgbClr val="7B8696"/>
      </a:accent1>
      <a:accent2>
        <a:srgbClr val="3F5F8A"/>
      </a:accent2>
      <a:accent3>
        <a:srgbClr val="7A90A8"/>
      </a:accent3>
      <a:accent4>
        <a:srgbClr val="E57F84"/>
      </a:accent4>
      <a:accent5>
        <a:srgbClr val="94C973"/>
      </a:accent5>
      <a:accent6>
        <a:srgbClr val="F3C46F"/>
      </a:accent6>
      <a:hlink>
        <a:srgbClr val="3F5F8A"/>
      </a:hlink>
      <a:folHlink>
        <a:srgbClr val="7B8696"/>
      </a:folHlink>
    </a:clrScheme>
    <a:fontScheme name="Counsel Fonts">
      <a:majorFont>
        <a:latin typeface="Cambria"/>
        <a:ea typeface=""/>
        <a:cs typeface=""/>
      </a:majorFont>
      <a:minorFont>
        <a:latin typeface="Calibri"/>
        <a:ea typeface=""/>
        <a:cs typeface=""/>
      </a:minorFont>
    </a:fontScheme>
    <a:fmtScheme name="Counsel Forma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ineStyleLst>
        <a:ln w="9525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  <a:ln w="38100" cap="flat" cmpd="sng" algn="ctr">
          <a:solidFill>
            <a:schemeClr val="phClr"/>
          </a:solidFill>
          <a:prstDash val="solid"/>
          <a:miter lim="800000"/>
        </a:ln>
      </a:line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</a:schemeClr>
            </a:gs>
            <a:gs pos="50000">
              <a:schemeClr val="phClr">
                <a:tint val="98000"/>
                <a:satMod val="130000"/>
              </a:schemeClr>
            </a:gs>
            <a:gs pos="100000">
              <a:schemeClr val="phClr">
                <a:shade val="90000"/>
                <a:satMod val="120000"/>
              </a:schemeClr>
            </a:gs>
          </a:gsLst>
          <a:path path="circle">
            <a:fillToRect l="50000" t="-80000" r="50000" b="18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9</Slides>
  <Notes>0</Notes>
  <HiddenSlides>0</HiddenSlides>
  <MMClips>0</MMClips>
  <ScaleCrop>false</ScaleCrop>
  <HeadingPairs>
    <vt:vector size="2" baseType="variant">
      <vt:variant>
        <vt:lpstr>Theme</vt:lpstr>
      </vt:variant>
      <vt:variant>
        <vt:i4>1</vt:i4>
      </vt:variant>
    </vt:vector>
  </HeadingPairs>
  <TitlesOfParts>
    <vt:vector size="9" baseType="lpstr">
      <vt:lpstr>Legal Argument-Aware Summarization MVP</vt:lpstr>
      <vt:lpstr>Problem Statement</vt:lpstr>
      <vt:lpstr>Method Overview</vt:lpstr>
      <vt:lpstr>Preprocessing And Chunking</vt:lpstr>
      <vt:lpstr>Role Prediction And Candidate Generation</vt:lpstr>
      <vt:lpstr>Reranking Formula And Selection Logic</vt:lpstr>
      <vt:lpstr>Evaluation Metrics And Formulas</vt:lpstr>
      <vt:lpstr>Example Case Flow</vt:lpstr>
      <vt:lpstr>Conclusion</vt:lpstr>
    </vt:vector>
  </TitlesOfParts>
  <Company>OpenAI Codex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Legal Argument-Aware Summarization MVP</dc:title>
  <dc:subject>Project presentation</dc:subject>
  <dc:creator>OpenAI Codex</dc:creator>
  <cp:keywords>legal nlp, summarization, generative ai, powerpoint</cp:keywords>
  <dc:description>Presentation deck for the legal argument-aware summarization MVP.</dc:description>
  <cp:lastModifiedBy>OpenAI Codex</cp:lastModifiedBy>
  <dcterms:created xsi:type="dcterms:W3CDTF">2026-04-15T18:59:51Z</dcterms:created>
  <dcterms:modified xsi:type="dcterms:W3CDTF">2026-04-15T18:59:51Z</dcterms:modified>
</cp:coreProperties>
</file>